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25.xml" ContentType="application/vnd.openxmlformats-officedocument.presentationml.tag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5"/>
  </p:notesMasterIdLst>
  <p:sldIdLst>
    <p:sldId id="256" r:id="rId5"/>
    <p:sldId id="257" r:id="rId6"/>
    <p:sldId id="258" r:id="rId7"/>
    <p:sldId id="259" r:id="rId8"/>
    <p:sldId id="260" r:id="rId9"/>
    <p:sldId id="276"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x="12192000" cy="6858000"/>
  <p:notesSz cx="6858000" cy="1857375"/>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4" userDrawn="1">
          <p15:clr>
            <a:srgbClr val="A4A3A4"/>
          </p15:clr>
        </p15:guide>
        <p15:guide id="2" pos="28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3AA52-0FB4-F6D0-6D07-1A3D2D9FD3FC}" name="Marianne Seidler" initials="MS" userId="S::mariannes@skillup.tech::bb0b4178-c940-4a9a-9c5e-e97bf5d50d86" providerId="AD"/>
  <p188:author id="{F554C3DC-94B8-9F7D-83FC-6D4CEC0DE845}" name="Dawn Teel-Friedman" initials="DTF" userId="Dawn Teel-Friedm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Beth Larsen" initials="BL" lastIdx="1" clrIdx="4">
    <p:extLst>
      <p:ext uri="{19B8F6BF-5375-455C-9EA6-DF929625EA0E}">
        <p15:presenceInfo xmlns:p15="http://schemas.microsoft.com/office/powerpoint/2012/main" userId="04edb8684ac0beb8" providerId="Windows Live"/>
      </p:ext>
    </p:extLst>
  </p:cmAuthor>
  <p:cmAuthor id="6" name="Matt Ockenfels" initials="MO" lastIdx="1" clrIdx="5">
    <p:extLst>
      <p:ext uri="{19B8F6BF-5375-455C-9EA6-DF929625EA0E}">
        <p15:presenceInfo xmlns:p15="http://schemas.microsoft.com/office/powerpoint/2012/main" userId="S::matto@skillup.tech::1f5f8b86-5465-4302-9a82-9a36d055e8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2C3"/>
    <a:srgbClr val="007D79"/>
    <a:srgbClr val="D02670"/>
    <a:srgbClr val="231F20"/>
    <a:srgbClr val="33B1FF"/>
    <a:srgbClr val="262626"/>
    <a:srgbClr val="525252"/>
    <a:srgbClr val="BE95FF"/>
    <a:srgbClr val="FFFFFF"/>
    <a:srgbClr val="C1C7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27" autoAdjust="0"/>
    <p:restoredTop sz="96260" autoAdjust="0"/>
  </p:normalViewPr>
  <p:slideViewPr>
    <p:cSldViewPr snapToGrid="0">
      <p:cViewPr varScale="1">
        <p:scale>
          <a:sx n="113" d="100"/>
          <a:sy n="113" d="100"/>
        </p:scale>
        <p:origin x="528" y="114"/>
      </p:cViewPr>
      <p:guideLst>
        <p:guide orient="horz" pos="744"/>
        <p:guide pos="288"/>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Users\miranti.puspitasari\Downloads\job-posting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miranti.puspitasari\Downloads\popular-language%20copy.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Number</a:t>
            </a:r>
            <a:r>
              <a:rPr lang="en-US" b="1" baseline="0"/>
              <a:t> of Job Posting for Various Tech</a:t>
            </a:r>
            <a:endParaRPr lang="en-US" b="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MySQL Server</c:v>
                </c:pt>
                <c:pt idx="1">
                  <c:v>PostgreSQL</c:v>
                </c:pt>
                <c:pt idx="2">
                  <c:v>Scala</c:v>
                </c:pt>
                <c:pt idx="3">
                  <c:v>MongoDB</c:v>
                </c:pt>
                <c:pt idx="4">
                  <c:v>SQL Server</c:v>
                </c:pt>
                <c:pt idx="5">
                  <c:v>C++</c:v>
                </c:pt>
                <c:pt idx="6">
                  <c:v>C#</c:v>
                </c:pt>
                <c:pt idx="7">
                  <c:v>Oracle</c:v>
                </c:pt>
                <c:pt idx="8">
                  <c:v>Python</c:v>
                </c:pt>
                <c:pt idx="9">
                  <c:v>Javascript</c:v>
                </c:pt>
                <c:pt idx="10">
                  <c:v>Java</c:v>
                </c:pt>
                <c:pt idx="11">
                  <c:v>C</c:v>
                </c:pt>
              </c:strCache>
            </c:strRef>
          </c:cat>
          <c:val>
            <c:numRef>
              <c:f>Sheet1!$B$2:$B$13</c:f>
              <c:numCache>
                <c:formatCode>General</c:formatCode>
                <c:ptCount val="12"/>
                <c:pt idx="0">
                  <c:v>0</c:v>
                </c:pt>
                <c:pt idx="1">
                  <c:v>86</c:v>
                </c:pt>
                <c:pt idx="2">
                  <c:v>138</c:v>
                </c:pt>
                <c:pt idx="3">
                  <c:v>208</c:v>
                </c:pt>
                <c:pt idx="4">
                  <c:v>423</c:v>
                </c:pt>
                <c:pt idx="5">
                  <c:v>506</c:v>
                </c:pt>
                <c:pt idx="6">
                  <c:v>526</c:v>
                </c:pt>
                <c:pt idx="7">
                  <c:v>899</c:v>
                </c:pt>
                <c:pt idx="8">
                  <c:v>1173</c:v>
                </c:pt>
                <c:pt idx="9">
                  <c:v>2248</c:v>
                </c:pt>
                <c:pt idx="10">
                  <c:v>3428</c:v>
                </c:pt>
                <c:pt idx="11">
                  <c:v>25114</c:v>
                </c:pt>
              </c:numCache>
            </c:numRef>
          </c:val>
          <c:extLst>
            <c:ext xmlns:c16="http://schemas.microsoft.com/office/drawing/2014/chart" uri="{C3380CC4-5D6E-409C-BE32-E72D297353CC}">
              <c16:uniqueId val="{00000000-9452-DE49-BF34-07E2FF16D2E1}"/>
            </c:ext>
          </c:extLst>
        </c:ser>
        <c:dLbls>
          <c:showLegendKey val="0"/>
          <c:showVal val="0"/>
          <c:showCatName val="0"/>
          <c:showSerName val="0"/>
          <c:showPercent val="0"/>
          <c:showBubbleSize val="0"/>
        </c:dLbls>
        <c:gapWidth val="150"/>
        <c:axId val="1309004608"/>
        <c:axId val="1309505536"/>
      </c:barChart>
      <c:catAx>
        <c:axId val="1309004608"/>
        <c:scaling>
          <c:orientation val="minMax"/>
        </c:scaling>
        <c:delete val="0"/>
        <c:axPos val="l"/>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b="1">
                    <a:latin typeface="DIN Pro Regular" panose="020B0504020101020102" pitchFamily="34" charset="0"/>
                    <a:cs typeface="DIN Pro Regular" panose="020B0504020101020102" pitchFamily="34" charset="0"/>
                  </a:rPr>
                  <a:t>Tech Name</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DIN Pro Regular" panose="020B0504020101020102" pitchFamily="34" charset="0"/>
                <a:ea typeface="+mn-ea"/>
                <a:cs typeface="DIN Pro Regular" panose="020B0504020101020102" pitchFamily="34" charset="0"/>
              </a:defRPr>
            </a:pPr>
            <a:endParaRPr lang="en-US"/>
          </a:p>
        </c:txPr>
        <c:crossAx val="1309505536"/>
        <c:crosses val="autoZero"/>
        <c:auto val="1"/>
        <c:lblAlgn val="ctr"/>
        <c:lblOffset val="100"/>
        <c:noMultiLvlLbl val="0"/>
      </c:catAx>
      <c:valAx>
        <c:axId val="130950553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DIN Pro Regular" panose="020B0504020101020102" pitchFamily="34" charset="0"/>
                    <a:ea typeface="+mn-ea"/>
                    <a:cs typeface="DIN Pro Regular" panose="020B0504020101020102" pitchFamily="34" charset="0"/>
                  </a:defRPr>
                </a:pPr>
                <a:r>
                  <a:rPr lang="en-US" sz="1400" b="1">
                    <a:latin typeface="DIN Pro Regular" panose="020B0504020101020102" pitchFamily="34" charset="0"/>
                    <a:cs typeface="DIN Pro Regular" panose="020B0504020101020102" pitchFamily="34" charset="0"/>
                  </a:rPr>
                  <a:t>Number of Job Posting</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DIN Pro Regular" panose="020B0504020101020102" pitchFamily="34" charset="0"/>
                  <a:ea typeface="+mn-ea"/>
                  <a:cs typeface="DIN Pro Regular" panose="020B0504020101020102" pitchFamily="34" charset="0"/>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30900460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Average Annual Salary for Various Language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Average Annual Salary</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PHP</c:v>
                </c:pt>
                <c:pt idx="1">
                  <c:v>SQL</c:v>
                </c:pt>
                <c:pt idx="2">
                  <c:v>C#</c:v>
                </c:pt>
                <c:pt idx="3">
                  <c:v>R</c:v>
                </c:pt>
                <c:pt idx="4">
                  <c:v>Go</c:v>
                </c:pt>
                <c:pt idx="5">
                  <c:v>Java</c:v>
                </c:pt>
                <c:pt idx="6">
                  <c:v>Javascript</c:v>
                </c:pt>
                <c:pt idx="7">
                  <c:v>C++</c:v>
                </c:pt>
                <c:pt idx="8">
                  <c:v>Python</c:v>
                </c:pt>
                <c:pt idx="9">
                  <c:v>Swift</c:v>
                </c:pt>
              </c:strCache>
            </c:strRef>
          </c:cat>
          <c:val>
            <c:numRef>
              <c:f>Sheet1!$B$2:$B$11</c:f>
              <c:numCache>
                <c:formatCode>[$$-409]#,##0</c:formatCode>
                <c:ptCount val="10"/>
                <c:pt idx="0">
                  <c:v>84727</c:v>
                </c:pt>
                <c:pt idx="1">
                  <c:v>84793</c:v>
                </c:pt>
                <c:pt idx="2">
                  <c:v>88726</c:v>
                </c:pt>
                <c:pt idx="3">
                  <c:v>92037</c:v>
                </c:pt>
                <c:pt idx="4">
                  <c:v>94082</c:v>
                </c:pt>
                <c:pt idx="5">
                  <c:v>101013</c:v>
                </c:pt>
                <c:pt idx="6">
                  <c:v>110981</c:v>
                </c:pt>
                <c:pt idx="7">
                  <c:v>113865</c:v>
                </c:pt>
                <c:pt idx="8">
                  <c:v>114383</c:v>
                </c:pt>
                <c:pt idx="9">
                  <c:v>130801</c:v>
                </c:pt>
              </c:numCache>
            </c:numRef>
          </c:val>
          <c:extLst>
            <c:ext xmlns:c16="http://schemas.microsoft.com/office/drawing/2014/chart" uri="{C3380CC4-5D6E-409C-BE32-E72D297353CC}">
              <c16:uniqueId val="{00000000-F40A-7744-95AB-648C8FFF18DB}"/>
            </c:ext>
          </c:extLst>
        </c:ser>
        <c:dLbls>
          <c:showLegendKey val="0"/>
          <c:showVal val="0"/>
          <c:showCatName val="0"/>
          <c:showSerName val="0"/>
          <c:showPercent val="0"/>
          <c:showBubbleSize val="0"/>
        </c:dLbls>
        <c:gapWidth val="150"/>
        <c:axId val="1274514048"/>
        <c:axId val="1274519872"/>
      </c:barChart>
      <c:catAx>
        <c:axId val="1274514048"/>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a:t>Language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4519872"/>
        <c:crosses val="autoZero"/>
        <c:auto val="1"/>
        <c:lblAlgn val="ctr"/>
        <c:lblOffset val="100"/>
        <c:noMultiLvlLbl val="0"/>
      </c:catAx>
      <c:valAx>
        <c:axId val="127451987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a:t>Average Annual</a:t>
                </a:r>
                <a:r>
                  <a:rPr lang="en-US" b="1" baseline="0"/>
                  <a:t> Salary</a:t>
                </a:r>
                <a:endParaRPr lang="en-US" b="1"/>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409]#,##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45140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3D748D8-74D2-D541-8771-D72B405DBE68}" type="doc">
      <dgm:prSet loTypeId="urn:microsoft.com/office/officeart/2005/8/layout/vList2" loCatId="" qsTypeId="urn:microsoft.com/office/officeart/2005/8/quickstyle/simple1" qsCatId="simple" csTypeId="urn:microsoft.com/office/officeart/2005/8/colors/accent0_2" csCatId="mainScheme" phldr="1"/>
      <dgm:spPr/>
      <dgm:t>
        <a:bodyPr/>
        <a:lstStyle/>
        <a:p>
          <a:endParaRPr lang="en-US"/>
        </a:p>
      </dgm:t>
    </dgm:pt>
    <dgm:pt modelId="{409C99F8-06C1-1E4C-8B32-A209B75C93DD}">
      <dgm:prSet phldrT="[Text]" custT="1"/>
      <dgm:spPr/>
      <dgm:t>
        <a:bodyPr/>
        <a:lstStyle/>
        <a:p>
          <a:r>
            <a:rPr lang="en-US" sz="1900" b="1" dirty="0">
              <a:latin typeface="IBM Plex Sans" panose="020B0503050203000203" pitchFamily="34" charset="0"/>
            </a:rPr>
            <a:t>The faster the better</a:t>
          </a:r>
        </a:p>
      </dgm:t>
    </dgm:pt>
    <dgm:pt modelId="{43340ED8-F272-2549-95FC-3C54E633758A}" type="parTrans" cxnId="{9250B04C-6B31-DF48-83F8-55C9C2DAC5E6}">
      <dgm:prSet/>
      <dgm:spPr/>
      <dgm:t>
        <a:bodyPr/>
        <a:lstStyle/>
        <a:p>
          <a:endParaRPr lang="en-US"/>
        </a:p>
      </dgm:t>
    </dgm:pt>
    <dgm:pt modelId="{6A3E5F33-87DF-1D44-A83F-A369AACB4A78}" type="sibTrans" cxnId="{9250B04C-6B31-DF48-83F8-55C9C2DAC5E6}">
      <dgm:prSet/>
      <dgm:spPr/>
      <dgm:t>
        <a:bodyPr/>
        <a:lstStyle/>
        <a:p>
          <a:endParaRPr lang="en-US"/>
        </a:p>
      </dgm:t>
    </dgm:pt>
    <dgm:pt modelId="{29876090-FC25-7242-BD29-48CDF3B999F3}">
      <dgm:prSet phldrT="[Text]" custT="1"/>
      <dgm:spPr/>
      <dgm:t>
        <a:bodyPr/>
        <a:lstStyle/>
        <a:p>
          <a:r>
            <a:rPr lang="en-ID" sz="1900">
              <a:latin typeface="IBM Plex Sans" panose="020B0503050203000203" pitchFamily="34" charset="0"/>
            </a:rPr>
            <a:t>Faster and good performance languages and technologies continue to be most used and most desired because it needed to support complex ecosystems.</a:t>
          </a:r>
          <a:endParaRPr lang="en-US" sz="1900" dirty="0">
            <a:latin typeface="IBM Plex Sans" panose="020B0503050203000203" pitchFamily="34" charset="0"/>
          </a:endParaRPr>
        </a:p>
      </dgm:t>
    </dgm:pt>
    <dgm:pt modelId="{050ABC23-E193-104B-8F5A-7E19DABDD9A8}" type="parTrans" cxnId="{1B174BD2-3EBD-FC40-9D91-74F267DF0EE7}">
      <dgm:prSet/>
      <dgm:spPr/>
      <dgm:t>
        <a:bodyPr/>
        <a:lstStyle/>
        <a:p>
          <a:endParaRPr lang="en-US"/>
        </a:p>
      </dgm:t>
    </dgm:pt>
    <dgm:pt modelId="{EEE9C3AC-DBFF-FF46-8001-4920A49C3DDE}" type="sibTrans" cxnId="{1B174BD2-3EBD-FC40-9D91-74F267DF0EE7}">
      <dgm:prSet/>
      <dgm:spPr/>
      <dgm:t>
        <a:bodyPr/>
        <a:lstStyle/>
        <a:p>
          <a:endParaRPr lang="en-US"/>
        </a:p>
      </dgm:t>
    </dgm:pt>
    <dgm:pt modelId="{AEECC295-2E20-614B-B662-F9A0C849DAF6}">
      <dgm:prSet phldrT="[Text]" custT="1"/>
      <dgm:spPr/>
      <dgm:t>
        <a:bodyPr/>
        <a:lstStyle/>
        <a:p>
          <a:r>
            <a:rPr lang="en-ID" sz="1900" b="1">
              <a:latin typeface="IBM Plex Sans" panose="020B0503050203000203" pitchFamily="34" charset="0"/>
            </a:rPr>
            <a:t>Free edition for cost effective project</a:t>
          </a:r>
          <a:endParaRPr lang="en-US" sz="1900" b="1" dirty="0">
            <a:latin typeface="IBM Plex Sans" panose="020B0503050203000203" pitchFamily="34" charset="0"/>
          </a:endParaRPr>
        </a:p>
      </dgm:t>
    </dgm:pt>
    <dgm:pt modelId="{00366006-6CC6-F640-8BE7-E51E5AD761FF}" type="parTrans" cxnId="{E07452A0-EABA-D44D-A81F-B3967CDC8533}">
      <dgm:prSet/>
      <dgm:spPr/>
      <dgm:t>
        <a:bodyPr/>
        <a:lstStyle/>
        <a:p>
          <a:endParaRPr lang="en-US"/>
        </a:p>
      </dgm:t>
    </dgm:pt>
    <dgm:pt modelId="{F423F843-F17C-794E-B626-F443D843821F}" type="sibTrans" cxnId="{E07452A0-EABA-D44D-A81F-B3967CDC8533}">
      <dgm:prSet/>
      <dgm:spPr/>
      <dgm:t>
        <a:bodyPr/>
        <a:lstStyle/>
        <a:p>
          <a:endParaRPr lang="en-US"/>
        </a:p>
      </dgm:t>
    </dgm:pt>
    <dgm:pt modelId="{2FA53453-0A30-CD46-B511-A7B718AA6445}">
      <dgm:prSet phldrT="[Text]" custT="1"/>
      <dgm:spPr/>
      <dgm:t>
        <a:bodyPr/>
        <a:lstStyle/>
        <a:p>
          <a:r>
            <a:rPr lang="en-US" sz="1900" b="0" i="0" dirty="0"/>
            <a:t>Free editions" and "open-source software" are key strategies for cost-effective technology projects, as they eliminate licensing fees and leverage extensive community support. Many</a:t>
          </a:r>
          <a:r>
            <a:rPr lang="en-ID" sz="1900" b="0" i="0" dirty="0"/>
            <a:t> providers offer perpetually free tiers with limited features, ideal for small teams or initial project phases. </a:t>
          </a:r>
          <a:endParaRPr lang="en-US" sz="1900" dirty="0">
            <a:latin typeface="IBM Plex Sans" panose="020B0503050203000203" pitchFamily="34" charset="0"/>
          </a:endParaRPr>
        </a:p>
      </dgm:t>
    </dgm:pt>
    <dgm:pt modelId="{B3EF5D3A-F71B-5443-B223-20DB283612E8}" type="parTrans" cxnId="{E930EE1C-1196-7341-ABBC-7EE6ECE8F57F}">
      <dgm:prSet/>
      <dgm:spPr/>
      <dgm:t>
        <a:bodyPr/>
        <a:lstStyle/>
        <a:p>
          <a:endParaRPr lang="en-US"/>
        </a:p>
      </dgm:t>
    </dgm:pt>
    <dgm:pt modelId="{9DFE5C92-FF36-C249-98D4-CD4199A22982}" type="sibTrans" cxnId="{E930EE1C-1196-7341-ABBC-7EE6ECE8F57F}">
      <dgm:prSet/>
      <dgm:spPr/>
      <dgm:t>
        <a:bodyPr/>
        <a:lstStyle/>
        <a:p>
          <a:endParaRPr lang="en-US"/>
        </a:p>
      </dgm:t>
    </dgm:pt>
    <dgm:pt modelId="{A780EC85-EC8C-BB46-8AAF-FFAC7C5701EA}" type="pres">
      <dgm:prSet presAssocID="{F3D748D8-74D2-D541-8771-D72B405DBE68}" presName="linear" presStyleCnt="0">
        <dgm:presLayoutVars>
          <dgm:animLvl val="lvl"/>
          <dgm:resizeHandles val="exact"/>
        </dgm:presLayoutVars>
      </dgm:prSet>
      <dgm:spPr/>
    </dgm:pt>
    <dgm:pt modelId="{338860CA-FE42-8B44-8238-3FBFBC6712AD}" type="pres">
      <dgm:prSet presAssocID="{409C99F8-06C1-1E4C-8B32-A209B75C93DD}" presName="parentText" presStyleLbl="node1" presStyleIdx="0" presStyleCnt="2" custScaleY="73974">
        <dgm:presLayoutVars>
          <dgm:chMax val="0"/>
          <dgm:bulletEnabled val="1"/>
        </dgm:presLayoutVars>
      </dgm:prSet>
      <dgm:spPr/>
    </dgm:pt>
    <dgm:pt modelId="{5079F344-6AA5-FA42-91EF-10850803FE9A}" type="pres">
      <dgm:prSet presAssocID="{409C99F8-06C1-1E4C-8B32-A209B75C93DD}" presName="childText" presStyleLbl="revTx" presStyleIdx="0" presStyleCnt="2">
        <dgm:presLayoutVars>
          <dgm:bulletEnabled val="1"/>
        </dgm:presLayoutVars>
      </dgm:prSet>
      <dgm:spPr/>
    </dgm:pt>
    <dgm:pt modelId="{2B91F8CB-3D5F-714E-B795-B8F56B560DE2}" type="pres">
      <dgm:prSet presAssocID="{AEECC295-2E20-614B-B662-F9A0C849DAF6}" presName="parentText" presStyleLbl="node1" presStyleIdx="1" presStyleCnt="2" custScaleY="71400">
        <dgm:presLayoutVars>
          <dgm:chMax val="0"/>
          <dgm:bulletEnabled val="1"/>
        </dgm:presLayoutVars>
      </dgm:prSet>
      <dgm:spPr/>
    </dgm:pt>
    <dgm:pt modelId="{A51F354B-2D2D-B342-A15C-6F9C81D4C1C5}" type="pres">
      <dgm:prSet presAssocID="{AEECC295-2E20-614B-B662-F9A0C849DAF6}" presName="childText" presStyleLbl="revTx" presStyleIdx="1" presStyleCnt="2">
        <dgm:presLayoutVars>
          <dgm:bulletEnabled val="1"/>
        </dgm:presLayoutVars>
      </dgm:prSet>
      <dgm:spPr/>
    </dgm:pt>
  </dgm:ptLst>
  <dgm:cxnLst>
    <dgm:cxn modelId="{242A1E03-A449-A345-AEF6-5DCFEA8B2801}" type="presOf" srcId="{29876090-FC25-7242-BD29-48CDF3B999F3}" destId="{5079F344-6AA5-FA42-91EF-10850803FE9A}" srcOrd="0" destOrd="0" presId="urn:microsoft.com/office/officeart/2005/8/layout/vList2"/>
    <dgm:cxn modelId="{EC9CC513-3007-B948-89AD-CCE1139B5CF2}" type="presOf" srcId="{AEECC295-2E20-614B-B662-F9A0C849DAF6}" destId="{2B91F8CB-3D5F-714E-B795-B8F56B560DE2}" srcOrd="0" destOrd="0" presId="urn:microsoft.com/office/officeart/2005/8/layout/vList2"/>
    <dgm:cxn modelId="{E930EE1C-1196-7341-ABBC-7EE6ECE8F57F}" srcId="{AEECC295-2E20-614B-B662-F9A0C849DAF6}" destId="{2FA53453-0A30-CD46-B511-A7B718AA6445}" srcOrd="0" destOrd="0" parTransId="{B3EF5D3A-F71B-5443-B223-20DB283612E8}" sibTransId="{9DFE5C92-FF36-C249-98D4-CD4199A22982}"/>
    <dgm:cxn modelId="{8F595F49-650D-CB47-99F6-D2B9FC95E659}" type="presOf" srcId="{2FA53453-0A30-CD46-B511-A7B718AA6445}" destId="{A51F354B-2D2D-B342-A15C-6F9C81D4C1C5}" srcOrd="0" destOrd="0" presId="urn:microsoft.com/office/officeart/2005/8/layout/vList2"/>
    <dgm:cxn modelId="{9250B04C-6B31-DF48-83F8-55C9C2DAC5E6}" srcId="{F3D748D8-74D2-D541-8771-D72B405DBE68}" destId="{409C99F8-06C1-1E4C-8B32-A209B75C93DD}" srcOrd="0" destOrd="0" parTransId="{43340ED8-F272-2549-95FC-3C54E633758A}" sibTransId="{6A3E5F33-87DF-1D44-A83F-A369AACB4A78}"/>
    <dgm:cxn modelId="{47CF3E52-3D07-8C47-8AD9-7D03AAF4E9CD}" type="presOf" srcId="{409C99F8-06C1-1E4C-8B32-A209B75C93DD}" destId="{338860CA-FE42-8B44-8238-3FBFBC6712AD}" srcOrd="0" destOrd="0" presId="urn:microsoft.com/office/officeart/2005/8/layout/vList2"/>
    <dgm:cxn modelId="{E07452A0-EABA-D44D-A81F-B3967CDC8533}" srcId="{F3D748D8-74D2-D541-8771-D72B405DBE68}" destId="{AEECC295-2E20-614B-B662-F9A0C849DAF6}" srcOrd="1" destOrd="0" parTransId="{00366006-6CC6-F640-8BE7-E51E5AD761FF}" sibTransId="{F423F843-F17C-794E-B626-F443D843821F}"/>
    <dgm:cxn modelId="{48B241B2-AE57-3D48-8669-AA0195EB0587}" type="presOf" srcId="{F3D748D8-74D2-D541-8771-D72B405DBE68}" destId="{A780EC85-EC8C-BB46-8AAF-FFAC7C5701EA}" srcOrd="0" destOrd="0" presId="urn:microsoft.com/office/officeart/2005/8/layout/vList2"/>
    <dgm:cxn modelId="{1B174BD2-3EBD-FC40-9D91-74F267DF0EE7}" srcId="{409C99F8-06C1-1E4C-8B32-A209B75C93DD}" destId="{29876090-FC25-7242-BD29-48CDF3B999F3}" srcOrd="0" destOrd="0" parTransId="{050ABC23-E193-104B-8F5A-7E19DABDD9A8}" sibTransId="{EEE9C3AC-DBFF-FF46-8001-4920A49C3DDE}"/>
    <dgm:cxn modelId="{B4D33594-59AD-1A46-8B2D-99F238605EE6}" type="presParOf" srcId="{A780EC85-EC8C-BB46-8AAF-FFAC7C5701EA}" destId="{338860CA-FE42-8B44-8238-3FBFBC6712AD}" srcOrd="0" destOrd="0" presId="urn:microsoft.com/office/officeart/2005/8/layout/vList2"/>
    <dgm:cxn modelId="{3D655E65-5669-BF45-9026-4280EBB1E68F}" type="presParOf" srcId="{A780EC85-EC8C-BB46-8AAF-FFAC7C5701EA}" destId="{5079F344-6AA5-FA42-91EF-10850803FE9A}" srcOrd="1" destOrd="0" presId="urn:microsoft.com/office/officeart/2005/8/layout/vList2"/>
    <dgm:cxn modelId="{F12B4AE9-F07C-C045-B456-88A5CC3BF621}" type="presParOf" srcId="{A780EC85-EC8C-BB46-8AAF-FFAC7C5701EA}" destId="{2B91F8CB-3D5F-714E-B795-B8F56B560DE2}" srcOrd="2" destOrd="0" presId="urn:microsoft.com/office/officeart/2005/8/layout/vList2"/>
    <dgm:cxn modelId="{44F9A587-99EA-6248-A8A5-F33D0F329B97}" type="presParOf" srcId="{A780EC85-EC8C-BB46-8AAF-FFAC7C5701EA}" destId="{A51F354B-2D2D-B342-A15C-6F9C81D4C1C5}" srcOrd="3"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8860CA-FE42-8B44-8238-3FBFBC6712AD}">
      <dsp:nvSpPr>
        <dsp:cNvPr id="0" name=""/>
        <dsp:cNvSpPr/>
      </dsp:nvSpPr>
      <dsp:spPr>
        <a:xfrm>
          <a:off x="0" y="13972"/>
          <a:ext cx="6706460" cy="872419"/>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dirty="0">
              <a:latin typeface="IBM Plex Sans" panose="020B0503050203000203" pitchFamily="34" charset="0"/>
            </a:rPr>
            <a:t>The faster the better</a:t>
          </a:r>
        </a:p>
      </dsp:txBody>
      <dsp:txXfrm>
        <a:off x="42588" y="56560"/>
        <a:ext cx="6621284" cy="787243"/>
      </dsp:txXfrm>
    </dsp:sp>
    <dsp:sp modelId="{5079F344-6AA5-FA42-91EF-10850803FE9A}">
      <dsp:nvSpPr>
        <dsp:cNvPr id="0" name=""/>
        <dsp:cNvSpPr/>
      </dsp:nvSpPr>
      <dsp:spPr>
        <a:xfrm>
          <a:off x="0" y="886392"/>
          <a:ext cx="6706460" cy="10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2930" tIns="24130" rIns="135128" bIns="24130" numCol="1" spcCol="1270" anchor="t" anchorCtr="0">
          <a:noAutofit/>
        </a:bodyPr>
        <a:lstStyle/>
        <a:p>
          <a:pPr marL="171450" lvl="1" indent="-171450" algn="l" defTabSz="844550">
            <a:lnSpc>
              <a:spcPct val="90000"/>
            </a:lnSpc>
            <a:spcBef>
              <a:spcPct val="0"/>
            </a:spcBef>
            <a:spcAft>
              <a:spcPct val="20000"/>
            </a:spcAft>
            <a:buChar char="•"/>
          </a:pPr>
          <a:r>
            <a:rPr lang="en-ID" sz="1900" kern="1200">
              <a:latin typeface="IBM Plex Sans" panose="020B0503050203000203" pitchFamily="34" charset="0"/>
            </a:rPr>
            <a:t>Faster and good performance languages and technologies continue to be most used and most desired because it needed to support complex ecosystems.</a:t>
          </a:r>
          <a:endParaRPr lang="en-US" sz="1900" kern="1200" dirty="0">
            <a:latin typeface="IBM Plex Sans" panose="020B0503050203000203" pitchFamily="34" charset="0"/>
          </a:endParaRPr>
        </a:p>
      </dsp:txBody>
      <dsp:txXfrm>
        <a:off x="0" y="886392"/>
        <a:ext cx="6706460" cy="1043280"/>
      </dsp:txXfrm>
    </dsp:sp>
    <dsp:sp modelId="{2B91F8CB-3D5F-714E-B795-B8F56B560DE2}">
      <dsp:nvSpPr>
        <dsp:cNvPr id="0" name=""/>
        <dsp:cNvSpPr/>
      </dsp:nvSpPr>
      <dsp:spPr>
        <a:xfrm>
          <a:off x="0" y="1929672"/>
          <a:ext cx="6706460" cy="842063"/>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D" sz="1900" b="1" kern="1200">
              <a:latin typeface="IBM Plex Sans" panose="020B0503050203000203" pitchFamily="34" charset="0"/>
            </a:rPr>
            <a:t>Free edition for cost effective project</a:t>
          </a:r>
          <a:endParaRPr lang="en-US" sz="1900" b="1" kern="1200" dirty="0">
            <a:latin typeface="IBM Plex Sans" panose="020B0503050203000203" pitchFamily="34" charset="0"/>
          </a:endParaRPr>
        </a:p>
      </dsp:txBody>
      <dsp:txXfrm>
        <a:off x="41106" y="1970778"/>
        <a:ext cx="6624248" cy="759851"/>
      </dsp:txXfrm>
    </dsp:sp>
    <dsp:sp modelId="{A51F354B-2D2D-B342-A15C-6F9C81D4C1C5}">
      <dsp:nvSpPr>
        <dsp:cNvPr id="0" name=""/>
        <dsp:cNvSpPr/>
      </dsp:nvSpPr>
      <dsp:spPr>
        <a:xfrm>
          <a:off x="0" y="2771735"/>
          <a:ext cx="6706460" cy="176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2930" tIns="24130" rIns="135128" bIns="24130" numCol="1" spcCol="1270" anchor="t" anchorCtr="0">
          <a:noAutofit/>
        </a:bodyPr>
        <a:lstStyle/>
        <a:p>
          <a:pPr marL="171450" lvl="1" indent="-171450" algn="l" defTabSz="844550">
            <a:lnSpc>
              <a:spcPct val="90000"/>
            </a:lnSpc>
            <a:spcBef>
              <a:spcPct val="0"/>
            </a:spcBef>
            <a:spcAft>
              <a:spcPct val="20000"/>
            </a:spcAft>
            <a:buChar char="•"/>
          </a:pPr>
          <a:r>
            <a:rPr lang="en-US" sz="1900" b="0" i="0" kern="1200" dirty="0"/>
            <a:t>Free editions" and "open-source software" are key strategies for cost-effective technology projects, as they eliminate licensing fees and leverage extensive community support. Many</a:t>
          </a:r>
          <a:r>
            <a:rPr lang="en-ID" sz="1900" b="0" i="0" kern="1200" dirty="0"/>
            <a:t> providers offer perpetually free tiers with limited features, ideal for small teams or initial project phases. </a:t>
          </a:r>
          <a:endParaRPr lang="en-US" sz="1900" kern="1200" dirty="0">
            <a:latin typeface="IBM Plex Sans" panose="020B0503050203000203" pitchFamily="34" charset="0"/>
          </a:endParaRPr>
        </a:p>
      </dsp:txBody>
      <dsp:txXfrm>
        <a:off x="0" y="2771735"/>
        <a:ext cx="6706460" cy="176053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12/27/2025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t> </a:t>
            </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headEnd/>
            <a:tailEnd/>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p>
        </p:txBody>
      </p:sp>
      <p:grpSp>
        <p:nvGrpSpPr>
          <p:cNvPr id="5" name="Group 4">
            <a:extLst>
              <a:ext uri="{FF2B5EF4-FFF2-40B4-BE49-F238E27FC236}">
                <a16:creationId xmlns:a16="http://schemas.microsoft.com/office/drawing/2014/main" id="{CB5BAB42-A6B6-D2DB-EC91-721CA287B900}"/>
              </a:ext>
            </a:extLst>
          </p:cNvPr>
          <p:cNvGrpSpPr/>
          <p:nvPr userDrawn="1"/>
        </p:nvGrpSpPr>
        <p:grpSpPr>
          <a:xfrm>
            <a:off x="11094856" y="6244940"/>
            <a:ext cx="1098532" cy="613059"/>
            <a:chOff x="8965342" y="4231217"/>
            <a:chExt cx="1608171" cy="897474"/>
          </a:xfrm>
        </p:grpSpPr>
        <p:pic>
          <p:nvPicPr>
            <p:cNvPr id="6" name="Graphic 5">
              <a:extLst>
                <a:ext uri="{FF2B5EF4-FFF2-40B4-BE49-F238E27FC236}">
                  <a16:creationId xmlns:a16="http://schemas.microsoft.com/office/drawing/2014/main" id="{D9DAF80D-4D83-4EA4-3B9A-B4DEAA21CF4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321121" y="4418033"/>
              <a:ext cx="897474" cy="355817"/>
            </a:xfrm>
            <a:prstGeom prst="rect">
              <a:avLst/>
            </a:prstGeom>
          </p:spPr>
        </p:pic>
        <p:pic>
          <p:nvPicPr>
            <p:cNvPr id="11" name="Graphic 10" hidden="1">
              <a:extLst>
                <a:ext uri="{FF2B5EF4-FFF2-40B4-BE49-F238E27FC236}">
                  <a16:creationId xmlns:a16="http://schemas.microsoft.com/office/drawing/2014/main" id="{AA1B3EED-0A38-9B4D-C031-B7CFB1F16CD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321121" y="4772874"/>
              <a:ext cx="897474" cy="355817"/>
            </a:xfrm>
            <a:prstGeom prst="rect">
              <a:avLst/>
            </a:prstGeom>
          </p:spPr>
        </p:pic>
        <p:pic>
          <p:nvPicPr>
            <p:cNvPr id="12" name="Graphic 11" hidden="1">
              <a:extLst>
                <a:ext uri="{FF2B5EF4-FFF2-40B4-BE49-F238E27FC236}">
                  <a16:creationId xmlns:a16="http://schemas.microsoft.com/office/drawing/2014/main" id="{D8BA40FF-052F-CEA2-8570-24062BFE0A7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6200000">
              <a:off x="9946868" y="4502045"/>
              <a:ext cx="897474" cy="355817"/>
            </a:xfrm>
            <a:prstGeom prst="rect">
              <a:avLst/>
            </a:prstGeom>
          </p:spPr>
        </p:pic>
        <p:pic>
          <p:nvPicPr>
            <p:cNvPr id="13" name="Graphic 12" hidden="1">
              <a:extLst>
                <a:ext uri="{FF2B5EF4-FFF2-40B4-BE49-F238E27FC236}">
                  <a16:creationId xmlns:a16="http://schemas.microsoft.com/office/drawing/2014/main" id="{10305589-4F05-9658-71A7-2F6E7BFE952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6200000">
              <a:off x="8694514" y="4502045"/>
              <a:ext cx="897474" cy="355817"/>
            </a:xfrm>
            <a:prstGeom prst="rect">
              <a:avLst/>
            </a:prstGeom>
          </p:spPr>
        </p:pic>
      </p:grpSp>
      <p:pic>
        <p:nvPicPr>
          <p:cNvPr id="14" name="Graphic 13">
            <a:extLst>
              <a:ext uri="{FF2B5EF4-FFF2-40B4-BE49-F238E27FC236}">
                <a16:creationId xmlns:a16="http://schemas.microsoft.com/office/drawing/2014/main" id="{EEFE9B80-1CD0-9614-4D99-C0FA5B74A8B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41053" y="6372101"/>
            <a:ext cx="1630680" cy="247650"/>
          </a:xfrm>
          <a:prstGeom prst="rect">
            <a:avLst/>
          </a:prstGeom>
        </p:spPr>
      </p:pic>
    </p:spTree>
    <p:custDataLst>
      <p:tags r:id="rId1"/>
    </p:custDataLst>
    <p:extLst>
      <p:ext uri="{BB962C8B-B14F-4D97-AF65-F5344CB8AC3E}">
        <p14:creationId xmlns:p14="http://schemas.microsoft.com/office/powerpoint/2010/main" val="373615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p>
          <a:p>
            <a:pPr lvl="1"/>
            <a:r>
              <a:rPr lang="en-US"/>
              <a:t>Second level</a:t>
            </a:r>
          </a:p>
          <a:p>
            <a:pPr lvl="2"/>
            <a:r>
              <a:rPr lang="en-US"/>
              <a:t>Third level</a:t>
            </a:r>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97029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87134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793464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p>
        </p:txBody>
      </p:sp>
    </p:spTree>
    <p:extLst>
      <p:ext uri="{BB962C8B-B14F-4D97-AF65-F5344CB8AC3E}">
        <p14:creationId xmlns:p14="http://schemas.microsoft.com/office/powerpoint/2010/main" val="117327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2_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24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13"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image" Target="../media/image7.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image" Target="../media/image6.png"/><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png"/><Relationship Id="rId14" Type="http://schemas.openxmlformats.org/officeDocument/2006/relationships/image" Target="../media/image5.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pic>
        <p:nvPicPr>
          <p:cNvPr id="12" name="Picture 11" descr="Text, logo&#10;&#10;Description automatically generated">
            <a:extLst>
              <a:ext uri="{FF2B5EF4-FFF2-40B4-BE49-F238E27FC236}">
                <a16:creationId xmlns:a16="http://schemas.microsoft.com/office/drawing/2014/main" id="{05161552-D656-B925-AB2F-4CA5F6FE7270}"/>
              </a:ext>
            </a:extLst>
          </p:cNvPr>
          <p:cNvPicPr>
            <a:picLocks noChangeAspect="1"/>
          </p:cNvPicPr>
          <p:nvPr userDrawn="1"/>
        </p:nvPicPr>
        <p:blipFill rotWithShape="1">
          <a:blip r:embed="rId9">
            <a:alphaModFix amt="5000"/>
            <a:extLst>
              <a:ext uri="{BEBA8EAE-BF5A-486C-A8C5-ECC9F3942E4B}">
                <a14:imgProps xmlns:a14="http://schemas.microsoft.com/office/drawing/2010/main">
                  <a14:imgLayer r:embed="rId10">
                    <a14:imgEffect>
                      <a14:saturation sat="155000"/>
                    </a14:imgEffect>
                    <a14:imgEffect>
                      <a14:brightnessContrast contrast="-77000"/>
                    </a14:imgEffect>
                  </a14:imgLayer>
                </a14:imgProps>
              </a:ext>
            </a:extLst>
          </a:blip>
          <a:srcRect l="-1923" r="70315"/>
          <a:stretch/>
        </p:blipFill>
        <p:spPr>
          <a:xfrm>
            <a:off x="3345127" y="1418811"/>
            <a:ext cx="5501746" cy="4826130"/>
          </a:xfrm>
          <a:prstGeom prst="rect">
            <a:avLst/>
          </a:prstGeom>
        </p:spPr>
      </p:pic>
      <p:sp>
        <p:nvSpPr>
          <p:cNvPr id="4" name="Rectangle 3">
            <a:extLst>
              <a:ext uri="{FF2B5EF4-FFF2-40B4-BE49-F238E27FC236}">
                <a16:creationId xmlns:a16="http://schemas.microsoft.com/office/drawing/2014/main" id="{AE377BDD-6725-68B2-639C-E47C9B4601F2}"/>
              </a:ext>
            </a:extLst>
          </p:cNvPr>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p>
        </p:txBody>
      </p:sp>
      <p:sp>
        <p:nvSpPr>
          <p:cNvPr id="5" name="Rectangle 4">
            <a:extLst>
              <a:ext uri="{FF2B5EF4-FFF2-40B4-BE49-F238E27FC236}">
                <a16:creationId xmlns:a16="http://schemas.microsoft.com/office/drawing/2014/main" id="{18771CE0-19C9-5FCF-1B71-ACF36DEE6664}"/>
              </a:ext>
            </a:extLst>
          </p:cNvPr>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p>
        </p:txBody>
      </p:sp>
      <p:sp>
        <p:nvSpPr>
          <p:cNvPr id="6" name="Rectangle 5">
            <a:extLst>
              <a:ext uri="{FF2B5EF4-FFF2-40B4-BE49-F238E27FC236}">
                <a16:creationId xmlns:a16="http://schemas.microsoft.com/office/drawing/2014/main" id="{832A3F44-3AAC-9557-E214-F323108F6B65}"/>
              </a:ext>
            </a:extLst>
          </p:cNvPr>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p>
        </p:txBody>
      </p:sp>
      <p:sp>
        <p:nvSpPr>
          <p:cNvPr id="9" name="Rectangle 8">
            <a:extLst>
              <a:ext uri="{FF2B5EF4-FFF2-40B4-BE49-F238E27FC236}">
                <a16:creationId xmlns:a16="http://schemas.microsoft.com/office/drawing/2014/main" id="{06EA0613-E945-E437-C733-F9F008F63B76}"/>
              </a:ext>
            </a:extLst>
          </p:cNvPr>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p>
        </p:txBody>
      </p:sp>
      <p:sp>
        <p:nvSpPr>
          <p:cNvPr id="10" name="TextBox 9">
            <a:extLst>
              <a:ext uri="{FF2B5EF4-FFF2-40B4-BE49-F238E27FC236}">
                <a16:creationId xmlns:a16="http://schemas.microsoft.com/office/drawing/2014/main" id="{F0EC5687-C25A-A73E-5192-674F560F89FA}"/>
              </a:ext>
            </a:extLst>
          </p:cNvPr>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a:extLst>
              <a:ext uri="{FF2B5EF4-FFF2-40B4-BE49-F238E27FC236}">
                <a16:creationId xmlns:a16="http://schemas.microsoft.com/office/drawing/2014/main" id="{C31F4021-33FE-506B-3C0D-688FEF669647}"/>
              </a:ext>
            </a:extLst>
          </p:cNvPr>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a:extLst>
              <a:ext uri="{FF2B5EF4-FFF2-40B4-BE49-F238E27FC236}">
                <a16:creationId xmlns:a16="http://schemas.microsoft.com/office/drawing/2014/main" id="{586B112C-C780-5B47-83AA-D580E668C866}"/>
              </a:ext>
            </a:extLst>
          </p:cNvPr>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a:extLst>
              <a:ext uri="{FF2B5EF4-FFF2-40B4-BE49-F238E27FC236}">
                <a16:creationId xmlns:a16="http://schemas.microsoft.com/office/drawing/2014/main" id="{D92FC597-9201-21C6-383D-67750826F14D}"/>
              </a:ext>
            </a:extLst>
          </p:cNvPr>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a:extLst>
              <a:ext uri="{FF2B5EF4-FFF2-40B4-BE49-F238E27FC236}">
                <a16:creationId xmlns:a16="http://schemas.microsoft.com/office/drawing/2014/main" id="{6B4A6D56-917B-72D3-81F7-A59A36FC4198}"/>
              </a:ext>
            </a:extLst>
          </p:cNvPr>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p>
        </p:txBody>
      </p:sp>
      <p:sp>
        <p:nvSpPr>
          <p:cNvPr id="17" name="Rectangle 16">
            <a:extLst>
              <a:ext uri="{FF2B5EF4-FFF2-40B4-BE49-F238E27FC236}">
                <a16:creationId xmlns:a16="http://schemas.microsoft.com/office/drawing/2014/main" id="{49512372-0859-45E3-8DD7-AE730B4AFD19}"/>
              </a:ext>
            </a:extLst>
          </p:cNvPr>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p>
        </p:txBody>
      </p:sp>
      <p:sp>
        <p:nvSpPr>
          <p:cNvPr id="18" name="Rectangle 17">
            <a:extLst>
              <a:ext uri="{FF2B5EF4-FFF2-40B4-BE49-F238E27FC236}">
                <a16:creationId xmlns:a16="http://schemas.microsoft.com/office/drawing/2014/main" id="{A4197D57-5F46-DB39-F81D-9205CC53189F}"/>
              </a:ext>
            </a:extLst>
          </p:cNvPr>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p>
        </p:txBody>
      </p:sp>
      <p:sp>
        <p:nvSpPr>
          <p:cNvPr id="19" name="Rectangle 18">
            <a:extLst>
              <a:ext uri="{FF2B5EF4-FFF2-40B4-BE49-F238E27FC236}">
                <a16:creationId xmlns:a16="http://schemas.microsoft.com/office/drawing/2014/main" id="{570AA9B1-D6E7-98E2-49EF-C98B6F0E7E2F}"/>
              </a:ext>
            </a:extLst>
          </p:cNvPr>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p>
        </p:txBody>
      </p:sp>
      <p:sp>
        <p:nvSpPr>
          <p:cNvPr id="20" name="TextBox 19">
            <a:extLst>
              <a:ext uri="{FF2B5EF4-FFF2-40B4-BE49-F238E27FC236}">
                <a16:creationId xmlns:a16="http://schemas.microsoft.com/office/drawing/2014/main" id="{B0A9DFA7-88D2-04F7-451C-7A2C388B178F}"/>
              </a:ext>
            </a:extLst>
          </p:cNvPr>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a:extLst>
              <a:ext uri="{FF2B5EF4-FFF2-40B4-BE49-F238E27FC236}">
                <a16:creationId xmlns:a16="http://schemas.microsoft.com/office/drawing/2014/main" id="{92C98F8E-1DCD-3647-3613-DFFC7CDFF372}"/>
              </a:ext>
            </a:extLst>
          </p:cNvPr>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a:extLst>
              <a:ext uri="{FF2B5EF4-FFF2-40B4-BE49-F238E27FC236}">
                <a16:creationId xmlns:a16="http://schemas.microsoft.com/office/drawing/2014/main" id="{129F1073-373D-249D-C1F2-A527EB0210C9}"/>
              </a:ext>
            </a:extLst>
          </p:cNvPr>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a:extLst>
              <a:ext uri="{FF2B5EF4-FFF2-40B4-BE49-F238E27FC236}">
                <a16:creationId xmlns:a16="http://schemas.microsoft.com/office/drawing/2014/main" id="{0D12B31A-8903-A616-B756-B8695FC8F38A}"/>
              </a:ext>
            </a:extLst>
          </p:cNvPr>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a:extLst>
              <a:ext uri="{FF2B5EF4-FFF2-40B4-BE49-F238E27FC236}">
                <a16:creationId xmlns:a16="http://schemas.microsoft.com/office/drawing/2014/main" id="{61892CDF-E500-AD18-C0DB-5405AF35ADE4}"/>
              </a:ext>
            </a:extLst>
          </p:cNvPr>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a:extLst>
              <a:ext uri="{FF2B5EF4-FFF2-40B4-BE49-F238E27FC236}">
                <a16:creationId xmlns:a16="http://schemas.microsoft.com/office/drawing/2014/main" id="{FACF072D-B1FC-4829-B71E-556F57965D46}"/>
              </a:ext>
            </a:extLst>
          </p:cNvPr>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a:extLst>
              <a:ext uri="{FF2B5EF4-FFF2-40B4-BE49-F238E27FC236}">
                <a16:creationId xmlns:a16="http://schemas.microsoft.com/office/drawing/2014/main" id="{398BBA60-CCFF-F95A-ECC9-46204EA2214B}"/>
              </a:ext>
            </a:extLst>
          </p:cNvPr>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p>
        </p:txBody>
      </p:sp>
      <p:sp>
        <p:nvSpPr>
          <p:cNvPr id="27" name="Rectangle 26">
            <a:extLst>
              <a:ext uri="{FF2B5EF4-FFF2-40B4-BE49-F238E27FC236}">
                <a16:creationId xmlns:a16="http://schemas.microsoft.com/office/drawing/2014/main" id="{63F05CFF-A449-FBB3-5F13-F7A72C2E43DE}"/>
              </a:ext>
            </a:extLst>
          </p:cNvPr>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p>
        </p:txBody>
      </p:sp>
      <p:sp>
        <p:nvSpPr>
          <p:cNvPr id="28" name="Rectangle 27">
            <a:extLst>
              <a:ext uri="{FF2B5EF4-FFF2-40B4-BE49-F238E27FC236}">
                <a16:creationId xmlns:a16="http://schemas.microsoft.com/office/drawing/2014/main" id="{A4895BC4-B52A-2D00-62C1-71A44604BBB4}"/>
              </a:ext>
            </a:extLst>
          </p:cNvPr>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p>
        </p:txBody>
      </p:sp>
      <p:sp>
        <p:nvSpPr>
          <p:cNvPr id="29" name="Rectangle 28">
            <a:extLst>
              <a:ext uri="{FF2B5EF4-FFF2-40B4-BE49-F238E27FC236}">
                <a16:creationId xmlns:a16="http://schemas.microsoft.com/office/drawing/2014/main" id="{F5B5B6C5-97CB-45FD-FDEC-1F5C2A0BDC3E}"/>
              </a:ext>
            </a:extLst>
          </p:cNvPr>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p>
        </p:txBody>
      </p:sp>
      <p:sp>
        <p:nvSpPr>
          <p:cNvPr id="30" name="TextBox 29">
            <a:extLst>
              <a:ext uri="{FF2B5EF4-FFF2-40B4-BE49-F238E27FC236}">
                <a16:creationId xmlns:a16="http://schemas.microsoft.com/office/drawing/2014/main" id="{94DCC439-D448-E0FC-26EF-94C7A8B8D0DB}"/>
              </a:ext>
            </a:extLst>
          </p:cNvPr>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a:extLst>
              <a:ext uri="{FF2B5EF4-FFF2-40B4-BE49-F238E27FC236}">
                <a16:creationId xmlns:a16="http://schemas.microsoft.com/office/drawing/2014/main" id="{004B7B48-2E66-50BA-96FE-D24C4E60BFD7}"/>
              </a:ext>
            </a:extLst>
          </p:cNvPr>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a:extLst>
              <a:ext uri="{FF2B5EF4-FFF2-40B4-BE49-F238E27FC236}">
                <a16:creationId xmlns:a16="http://schemas.microsoft.com/office/drawing/2014/main" id="{07C767BF-EB72-86A2-DBA6-0D26C6C02894}"/>
              </a:ext>
            </a:extLst>
          </p:cNvPr>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a:extLst>
              <a:ext uri="{FF2B5EF4-FFF2-40B4-BE49-F238E27FC236}">
                <a16:creationId xmlns:a16="http://schemas.microsoft.com/office/drawing/2014/main" id="{BFEDF829-6CB0-F03B-E025-85D510B4DC26}"/>
              </a:ext>
            </a:extLst>
          </p:cNvPr>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a:extLst>
              <a:ext uri="{FF2B5EF4-FFF2-40B4-BE49-F238E27FC236}">
                <a16:creationId xmlns:a16="http://schemas.microsoft.com/office/drawing/2014/main" id="{7FF97BF5-A64D-02F2-4B04-BC95CE39DF3F}"/>
              </a:ext>
            </a:extLst>
          </p:cNvPr>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#C1C7CD</a:t>
            </a:r>
          </a:p>
        </p:txBody>
      </p:sp>
      <p:sp>
        <p:nvSpPr>
          <p:cNvPr id="37" name="Rectangle 36">
            <a:extLst>
              <a:ext uri="{FF2B5EF4-FFF2-40B4-BE49-F238E27FC236}">
                <a16:creationId xmlns:a16="http://schemas.microsoft.com/office/drawing/2014/main" id="{63738F9B-27C5-3C49-8FD7-0731EE9AC3BF}"/>
              </a:ext>
            </a:extLst>
          </p:cNvPr>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#F2F4F8</a:t>
            </a:r>
          </a:p>
        </p:txBody>
      </p:sp>
      <p:sp>
        <p:nvSpPr>
          <p:cNvPr id="38" name="Rectangle 37">
            <a:extLst>
              <a:ext uri="{FF2B5EF4-FFF2-40B4-BE49-F238E27FC236}">
                <a16:creationId xmlns:a16="http://schemas.microsoft.com/office/drawing/2014/main" id="{A7194F16-D83C-3057-9151-A884EA8F0931}"/>
              </a:ext>
            </a:extLst>
          </p:cNvPr>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#BE95FF</a:t>
            </a:r>
          </a:p>
        </p:txBody>
      </p:sp>
      <p:sp>
        <p:nvSpPr>
          <p:cNvPr id="39" name="Rectangle 38">
            <a:extLst>
              <a:ext uri="{FF2B5EF4-FFF2-40B4-BE49-F238E27FC236}">
                <a16:creationId xmlns:a16="http://schemas.microsoft.com/office/drawing/2014/main" id="{80C7A661-0FF9-B849-2771-84AA24CF5EFF}"/>
              </a:ext>
            </a:extLst>
          </p:cNvPr>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#33B1FF</a:t>
            </a:r>
          </a:p>
        </p:txBody>
      </p:sp>
      <p:sp>
        <p:nvSpPr>
          <p:cNvPr id="42" name="Rectangle 41">
            <a:extLst>
              <a:ext uri="{FF2B5EF4-FFF2-40B4-BE49-F238E27FC236}">
                <a16:creationId xmlns:a16="http://schemas.microsoft.com/office/drawing/2014/main" id="{784675A9-3F9A-460D-D8D6-C5D9516859D4}"/>
              </a:ext>
            </a:extLst>
          </p:cNvPr>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#08BDBA</a:t>
            </a:r>
          </a:p>
        </p:txBody>
      </p:sp>
      <p:sp>
        <p:nvSpPr>
          <p:cNvPr id="43" name="Rectangle 42">
            <a:extLst>
              <a:ext uri="{FF2B5EF4-FFF2-40B4-BE49-F238E27FC236}">
                <a16:creationId xmlns:a16="http://schemas.microsoft.com/office/drawing/2014/main" id="{FD8C7787-7D0E-ED5D-DB99-53C4B52AA8F2}"/>
              </a:ext>
            </a:extLst>
          </p:cNvPr>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#78A9FF</a:t>
            </a:r>
          </a:p>
        </p:txBody>
      </p:sp>
      <p:sp>
        <p:nvSpPr>
          <p:cNvPr id="46" name="Rectangle 45">
            <a:extLst>
              <a:ext uri="{FF2B5EF4-FFF2-40B4-BE49-F238E27FC236}">
                <a16:creationId xmlns:a16="http://schemas.microsoft.com/office/drawing/2014/main" id="{20CCBF62-5F94-E366-51BD-6C8DCBF90955}"/>
              </a:ext>
            </a:extLst>
          </p:cNvPr>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p>
          <a:p>
            <a:pPr algn="ctr"/>
            <a:r>
              <a:rPr lang="en-US" dirty="0">
                <a:solidFill>
                  <a:schemeClr val="bg2"/>
                </a:solidFill>
                <a:latin typeface="IBM Plex Sans" panose="020B0503050203000203" pitchFamily="34" charset="0"/>
              </a:rPr>
              <a:t>#525252</a:t>
            </a:r>
          </a:p>
        </p:txBody>
      </p:sp>
      <p:sp>
        <p:nvSpPr>
          <p:cNvPr id="47" name="Rectangle 46">
            <a:extLst>
              <a:ext uri="{FF2B5EF4-FFF2-40B4-BE49-F238E27FC236}">
                <a16:creationId xmlns:a16="http://schemas.microsoft.com/office/drawing/2014/main" id="{E5880850-0EBA-AD14-E6FD-BB1DC94F3DA5}"/>
              </a:ext>
            </a:extLst>
          </p:cNvPr>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p>
          <a:p>
            <a:pPr algn="ctr"/>
            <a:r>
              <a:rPr lang="en-US" dirty="0">
                <a:solidFill>
                  <a:schemeClr val="bg2"/>
                </a:solidFill>
                <a:latin typeface="IBM Plex Sans" panose="020B0503050203000203" pitchFamily="34" charset="0"/>
              </a:rPr>
              <a:t>#262626</a:t>
            </a:r>
          </a:p>
        </p:txBody>
      </p:sp>
      <p:grpSp>
        <p:nvGrpSpPr>
          <p:cNvPr id="64" name="Group 63">
            <a:extLst>
              <a:ext uri="{FF2B5EF4-FFF2-40B4-BE49-F238E27FC236}">
                <a16:creationId xmlns:a16="http://schemas.microsoft.com/office/drawing/2014/main" id="{56209ACE-A4F7-EAC9-E98F-D141BE77F994}"/>
              </a:ext>
            </a:extLst>
          </p:cNvPr>
          <p:cNvGrpSpPr/>
          <p:nvPr userDrawn="1"/>
        </p:nvGrpSpPr>
        <p:grpSpPr>
          <a:xfrm>
            <a:off x="11094856" y="6244940"/>
            <a:ext cx="1098532" cy="613059"/>
            <a:chOff x="8965342" y="4231217"/>
            <a:chExt cx="1608171" cy="897474"/>
          </a:xfrm>
        </p:grpSpPr>
        <p:pic>
          <p:nvPicPr>
            <p:cNvPr id="60" name="Graphic 59">
              <a:extLst>
                <a:ext uri="{FF2B5EF4-FFF2-40B4-BE49-F238E27FC236}">
                  <a16:creationId xmlns:a16="http://schemas.microsoft.com/office/drawing/2014/main" id="{EFEE4105-67FB-F40B-E7BD-8C9B80C32F89}"/>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321121" y="4418033"/>
              <a:ext cx="897474" cy="355817"/>
            </a:xfrm>
            <a:prstGeom prst="rect">
              <a:avLst/>
            </a:prstGeom>
          </p:spPr>
        </p:pic>
        <p:pic>
          <p:nvPicPr>
            <p:cNvPr id="61" name="Graphic 60" hidden="1">
              <a:extLst>
                <a:ext uri="{FF2B5EF4-FFF2-40B4-BE49-F238E27FC236}">
                  <a16:creationId xmlns:a16="http://schemas.microsoft.com/office/drawing/2014/main" id="{9AB2407C-B3E2-DCDD-0692-DD32E3C45227}"/>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9321121" y="4772874"/>
              <a:ext cx="897474" cy="355817"/>
            </a:xfrm>
            <a:prstGeom prst="rect">
              <a:avLst/>
            </a:prstGeom>
          </p:spPr>
        </p:pic>
        <p:pic>
          <p:nvPicPr>
            <p:cNvPr id="62" name="Graphic 61" hidden="1">
              <a:extLst>
                <a:ext uri="{FF2B5EF4-FFF2-40B4-BE49-F238E27FC236}">
                  <a16:creationId xmlns:a16="http://schemas.microsoft.com/office/drawing/2014/main" id="{9128FFA9-E729-6051-FE44-5C57854D2B9B}"/>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9946868" y="4502045"/>
              <a:ext cx="897474" cy="355817"/>
            </a:xfrm>
            <a:prstGeom prst="rect">
              <a:avLst/>
            </a:prstGeom>
          </p:spPr>
        </p:pic>
        <p:pic>
          <p:nvPicPr>
            <p:cNvPr id="63" name="Graphic 62" hidden="1">
              <a:extLst>
                <a:ext uri="{FF2B5EF4-FFF2-40B4-BE49-F238E27FC236}">
                  <a16:creationId xmlns:a16="http://schemas.microsoft.com/office/drawing/2014/main" id="{21D1BE07-55D7-FEB6-D90F-FC214DFBDA4C}"/>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8694514" y="4502045"/>
              <a:ext cx="897474" cy="355817"/>
            </a:xfrm>
            <a:prstGeom prst="rect">
              <a:avLst/>
            </a:prstGeom>
          </p:spPr>
        </p:pic>
      </p:grpSp>
      <p:pic>
        <p:nvPicPr>
          <p:cNvPr id="66" name="Graphic 65">
            <a:extLst>
              <a:ext uri="{FF2B5EF4-FFF2-40B4-BE49-F238E27FC236}">
                <a16:creationId xmlns:a16="http://schemas.microsoft.com/office/drawing/2014/main" id="{FD0E63E5-36ED-0A5F-F2A0-E31AD11555EA}"/>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241053" y="6372101"/>
            <a:ext cx="1630680" cy="247650"/>
          </a:xfrm>
          <a:prstGeom prst="rect">
            <a:avLst/>
          </a:prstGeom>
        </p:spPr>
      </p:pic>
      <p:sp>
        <p:nvSpPr>
          <p:cNvPr id="67" name="Rectangle 66" hidden="1">
            <a:extLst>
              <a:ext uri="{FF2B5EF4-FFF2-40B4-BE49-F238E27FC236}">
                <a16:creationId xmlns:a16="http://schemas.microsoft.com/office/drawing/2014/main" id="{04EE5960-43EB-4B14-0782-2876BE85A607}"/>
              </a:ext>
            </a:extLst>
          </p:cNvPr>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8"/>
    </p:custDataLst>
    <p:extLst>
      <p:ext uri="{BB962C8B-B14F-4D97-AF65-F5344CB8AC3E}">
        <p14:creationId xmlns:p14="http://schemas.microsoft.com/office/powerpoint/2010/main" val="127044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 id="2147483673"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0.png"/><Relationship Id="rId7" Type="http://schemas.openxmlformats.org/officeDocument/2006/relationships/diagramColors" Target="../diagrams/colors1.xml"/><Relationship Id="rId2" Type="http://schemas.openxmlformats.org/officeDocument/2006/relationships/slideLayout" Target="../slideLayouts/slideLayout3.xml"/><Relationship Id="rId1" Type="http://schemas.openxmlformats.org/officeDocument/2006/relationships/tags" Target="../tags/tag9.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1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3.xml"/><Relationship Id="rId1" Type="http://schemas.openxmlformats.org/officeDocument/2006/relationships/tags" Target="../tags/tag14.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5.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puspitasarimiranti/IBM-Data-Analyst-Capstone-Project/tree/main/Task%205#:~:text=..-,Stack%20Overflow%20Dashboard.pdf,-Add%20files%20via" TargetMode="External"/><Relationship Id="rId2" Type="http://schemas.openxmlformats.org/officeDocument/2006/relationships/slideLayout" Target="../slideLayouts/slideLayout3.xml"/><Relationship Id="rId1" Type="http://schemas.openxmlformats.org/officeDocument/2006/relationships/tags" Target="../tags/tag16.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3.xml"/><Relationship Id="rId1" Type="http://schemas.openxmlformats.org/officeDocument/2006/relationships/tags" Target="../tags/tag17.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1.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3.xml"/><Relationship Id="rId1" Type="http://schemas.openxmlformats.org/officeDocument/2006/relationships/tags" Target="../tags/tag2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3.xml"/><Relationship Id="rId1" Type="http://schemas.openxmlformats.org/officeDocument/2006/relationships/tags" Target="../tags/tag23.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slideLayout" Target="../slideLayouts/slideLayout3.xml"/><Relationship Id="rId1" Type="http://schemas.openxmlformats.org/officeDocument/2006/relationships/tags" Target="../tags/tag24.xml"/></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slideLayout" Target="../slideLayouts/slideLayout3.xml"/><Relationship Id="rId1" Type="http://schemas.openxmlformats.org/officeDocument/2006/relationships/tags" Target="../tags/tag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5631-0297-E86E-7069-C969B141FD7D}"/>
              </a:ext>
            </a:extLst>
          </p:cNvPr>
          <p:cNvSpPr>
            <a:spLocks noGrp="1"/>
          </p:cNvSpPr>
          <p:nvPr>
            <p:ph type="ctrTitle"/>
          </p:nvPr>
        </p:nvSpPr>
        <p:spPr>
          <a:xfrm>
            <a:off x="393539" y="1168401"/>
            <a:ext cx="6516547" cy="2387600"/>
          </a:xfrm>
          <a:noFill/>
        </p:spPr>
        <p:txBody>
          <a:bodyPr>
            <a:noAutofit/>
          </a:bodyPr>
          <a:lstStyle/>
          <a:p>
            <a:r>
              <a:rPr lang="en-US" sz="5200" b="1" dirty="0">
                <a:latin typeface="IBM Plex Sans" panose="020B0503050203000203" pitchFamily="34" charset="0"/>
                <a:cs typeface="DIN Pro Regular" panose="020B0504020101020102" pitchFamily="34" charset="0"/>
              </a:rPr>
              <a:t>Sneak Peek into Technology Trends </a:t>
            </a:r>
            <a:br>
              <a:rPr lang="en-US" sz="5200" b="1" dirty="0">
                <a:latin typeface="IBM Plex Sans" panose="020B0503050203000203" pitchFamily="34" charset="0"/>
                <a:cs typeface="DIN Pro Regular" panose="020B0504020101020102" pitchFamily="34" charset="0"/>
              </a:rPr>
            </a:br>
            <a:r>
              <a:rPr lang="en-US" sz="5200" b="1" dirty="0">
                <a:latin typeface="IBM Plex Sans" panose="020B0503050203000203" pitchFamily="34" charset="0"/>
                <a:cs typeface="DIN Pro Regular" panose="020B0504020101020102" pitchFamily="34" charset="0"/>
              </a:rPr>
              <a:t>among Developer</a:t>
            </a:r>
          </a:p>
        </p:txBody>
      </p:sp>
      <p:sp>
        <p:nvSpPr>
          <p:cNvPr id="3" name="Subtitle 2">
            <a:extLst>
              <a:ext uri="{FF2B5EF4-FFF2-40B4-BE49-F238E27FC236}">
                <a16:creationId xmlns:a16="http://schemas.microsoft.com/office/drawing/2014/main" id="{59DF6B8D-2BAC-11F8-7D28-B631D08C8D90}"/>
              </a:ext>
            </a:extLst>
          </p:cNvPr>
          <p:cNvSpPr>
            <a:spLocks noGrp="1"/>
          </p:cNvSpPr>
          <p:nvPr>
            <p:ph type="subTitle" idx="1"/>
          </p:nvPr>
        </p:nvSpPr>
        <p:spPr>
          <a:xfrm>
            <a:off x="393539" y="3731247"/>
            <a:ext cx="6516547" cy="1655762"/>
          </a:xfrm>
          <a:noFill/>
        </p:spPr>
        <p:txBody>
          <a:bodyPr>
            <a:normAutofit/>
          </a:bodyPr>
          <a:lstStyle/>
          <a:p>
            <a:r>
              <a:rPr lang="en-US" b="1" dirty="0">
                <a:cs typeface="DIN Pro Regular" panose="020B0504020101020102" pitchFamily="34" charset="0"/>
              </a:rPr>
              <a:t>Rooshikesh Bhatt</a:t>
            </a:r>
          </a:p>
          <a:p>
            <a:r>
              <a:rPr lang="en-US" b="1">
                <a:cs typeface="DIN Pro Regular" panose="020B0504020101020102" pitchFamily="34" charset="0"/>
              </a:rPr>
              <a:t>December </a:t>
            </a:r>
            <a:r>
              <a:rPr lang="en-US" b="1" dirty="0">
                <a:cs typeface="DIN Pro Regular" panose="020B0504020101020102" pitchFamily="34" charset="0"/>
              </a:rPr>
              <a:t>27</a:t>
            </a:r>
            <a:r>
              <a:rPr lang="en-US" b="1" baseline="30000" dirty="0">
                <a:cs typeface="DIN Pro Regular" panose="020B0504020101020102" pitchFamily="34" charset="0"/>
              </a:rPr>
              <a:t>th</a:t>
            </a:r>
            <a:r>
              <a:rPr lang="en-US" b="1" dirty="0">
                <a:cs typeface="DIN Pro Regular" panose="020B0504020101020102" pitchFamily="34" charset="0"/>
              </a:rPr>
              <a:t>, 2025</a:t>
            </a:r>
          </a:p>
        </p:txBody>
      </p:sp>
      <p:pic>
        <p:nvPicPr>
          <p:cNvPr id="4" name="Picture 3">
            <a:extLst>
              <a:ext uri="{FF2B5EF4-FFF2-40B4-BE49-F238E27FC236}">
                <a16:creationId xmlns:a16="http://schemas.microsoft.com/office/drawing/2014/main" id="{77323E2C-8982-861D-BE1D-3E30E5CC437C}"/>
              </a:ext>
            </a:extLst>
          </p:cNvPr>
          <p:cNvPicPr>
            <a:picLocks noChangeAspect="1"/>
          </p:cNvPicPr>
          <p:nvPr/>
        </p:nvPicPr>
        <p:blipFill>
          <a:blip r:embed="rId3"/>
          <a:stretch>
            <a:fillRect/>
          </a:stretch>
        </p:blipFill>
        <p:spPr>
          <a:xfrm>
            <a:off x="7184719" y="387350"/>
            <a:ext cx="4794861" cy="4351338"/>
          </a:xfrm>
          <a:prstGeom prst="rect">
            <a:avLst/>
          </a:prstGeom>
          <a:noFill/>
        </p:spPr>
      </p:pic>
    </p:spTree>
    <p:custDataLst>
      <p:tags r:id="rId1"/>
    </p:custDataLst>
    <p:extLst>
      <p:ext uri="{BB962C8B-B14F-4D97-AF65-F5344CB8AC3E}">
        <p14:creationId xmlns:p14="http://schemas.microsoft.com/office/powerpoint/2010/main" val="4009730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3BC838-B25A-D37F-BC71-DD617895704C}"/>
              </a:ext>
            </a:extLst>
          </p:cNvPr>
          <p:cNvPicPr>
            <a:picLocks noChangeAspect="1"/>
          </p:cNvPicPr>
          <p:nvPr/>
        </p:nvPicPr>
        <p:blipFill>
          <a:blip r:embed="rId3"/>
          <a:stretch>
            <a:fillRect/>
          </a:stretch>
        </p:blipFill>
        <p:spPr>
          <a:xfrm>
            <a:off x="1450711" y="2025672"/>
            <a:ext cx="3194581" cy="3194581"/>
          </a:xfrm>
          <a:prstGeom prst="rect">
            <a:avLst/>
          </a:prstGeom>
        </p:spPr>
      </p:pic>
      <p:sp>
        <p:nvSpPr>
          <p:cNvPr id="9" name="Title 1">
            <a:extLst>
              <a:ext uri="{FF2B5EF4-FFF2-40B4-BE49-F238E27FC236}">
                <a16:creationId xmlns:a16="http://schemas.microsoft.com/office/drawing/2014/main" id="{EEC79264-7E04-A135-9158-F7EF333AC3D8}"/>
              </a:ext>
            </a:extLst>
          </p:cNvPr>
          <p:cNvSpPr txBox="1">
            <a:spLocks/>
          </p:cNvSpPr>
          <p:nvPr/>
        </p:nvSpPr>
        <p:spPr>
          <a:xfrm>
            <a:off x="782054" y="263810"/>
            <a:ext cx="85085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sz="4400" dirty="0">
                <a:latin typeface="IBM Plex Sans" panose="020B0503050203000203" pitchFamily="34" charset="0"/>
                <a:cs typeface="DIN Pro Regular" panose="020B0504020101020102" pitchFamily="34" charset="0"/>
              </a:rPr>
              <a:t>OUTLINE</a:t>
            </a:r>
          </a:p>
        </p:txBody>
      </p:sp>
      <p:sp>
        <p:nvSpPr>
          <p:cNvPr id="10" name="Content Placeholder 2">
            <a:extLst>
              <a:ext uri="{FF2B5EF4-FFF2-40B4-BE49-F238E27FC236}">
                <a16:creationId xmlns:a16="http://schemas.microsoft.com/office/drawing/2014/main" id="{79639434-C7DB-C6DD-28C9-5FE3588C5BC8}"/>
              </a:ext>
            </a:extLst>
          </p:cNvPr>
          <p:cNvSpPr txBox="1">
            <a:spLocks/>
          </p:cNvSpPr>
          <p:nvPr/>
        </p:nvSpPr>
        <p:spPr>
          <a:xfrm>
            <a:off x="6172200" y="1589373"/>
            <a:ext cx="5237746" cy="4587590"/>
          </a:xfrm>
          <a:prstGeom prst="rect">
            <a:avLst/>
          </a:prstGeom>
        </p:spPr>
        <p:txBody>
          <a:bodyPr>
            <a:no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dirty="0">
                <a:cs typeface="DIN Pro Regular" panose="020B0504020101020102" pitchFamily="34" charset="0"/>
              </a:rPr>
              <a:t>Executive Summary</a:t>
            </a:r>
          </a:p>
          <a:p>
            <a:r>
              <a:rPr lang="en-US" sz="2000" dirty="0">
                <a:cs typeface="DIN Pro Regular" panose="020B0504020101020102" pitchFamily="34" charset="0"/>
              </a:rPr>
              <a:t>Introduction</a:t>
            </a:r>
          </a:p>
          <a:p>
            <a:r>
              <a:rPr lang="en-US" sz="2000" dirty="0">
                <a:cs typeface="DIN Pro Regular" panose="020B0504020101020102" pitchFamily="34" charset="0"/>
              </a:rPr>
              <a:t>Methodology</a:t>
            </a:r>
          </a:p>
          <a:p>
            <a:r>
              <a:rPr lang="en-US" sz="2000" dirty="0">
                <a:cs typeface="DIN Pro Regular" panose="020B0504020101020102" pitchFamily="34" charset="0"/>
              </a:rPr>
              <a:t>Results &amp; Discussion</a:t>
            </a:r>
          </a:p>
          <a:p>
            <a:pPr lvl="1"/>
            <a:r>
              <a:rPr lang="en-US" sz="2000" dirty="0">
                <a:cs typeface="DIN Pro Regular" panose="020B0504020101020102" pitchFamily="34" charset="0"/>
              </a:rPr>
              <a:t>Visualization</a:t>
            </a:r>
          </a:p>
          <a:p>
            <a:pPr lvl="2"/>
            <a:r>
              <a:rPr lang="en-US" dirty="0">
                <a:cs typeface="DIN Pro Regular" panose="020B0504020101020102" pitchFamily="34" charset="0"/>
              </a:rPr>
              <a:t>Programming Language Trend</a:t>
            </a:r>
          </a:p>
          <a:p>
            <a:pPr lvl="2"/>
            <a:r>
              <a:rPr lang="en-US" dirty="0">
                <a:cs typeface="DIN Pro Regular" panose="020B0504020101020102" pitchFamily="34" charset="0"/>
              </a:rPr>
              <a:t>Database Trend</a:t>
            </a:r>
          </a:p>
          <a:p>
            <a:pPr lvl="1"/>
            <a:r>
              <a:rPr lang="en-US" sz="2000" dirty="0">
                <a:cs typeface="DIN Pro Regular" panose="020B0504020101020102" pitchFamily="34" charset="0"/>
              </a:rPr>
              <a:t>Dashboard</a:t>
            </a:r>
          </a:p>
          <a:p>
            <a:pPr lvl="1"/>
            <a:r>
              <a:rPr lang="en-US" sz="2000">
                <a:cs typeface="DIN Pro Regular" panose="020B0504020101020102" pitchFamily="34" charset="0"/>
              </a:rPr>
              <a:t>Overall Findings &amp; Implications</a:t>
            </a:r>
            <a:endParaRPr lang="en-US" sz="2000" dirty="0">
              <a:cs typeface="DIN Pro Regular" panose="020B0504020101020102" pitchFamily="34" charset="0"/>
            </a:endParaRPr>
          </a:p>
          <a:p>
            <a:r>
              <a:rPr lang="en-US" sz="2000" dirty="0">
                <a:cs typeface="DIN Pro Regular" panose="020B0504020101020102" pitchFamily="34" charset="0"/>
              </a:rPr>
              <a:t>Conclusion</a:t>
            </a:r>
          </a:p>
          <a:p>
            <a:r>
              <a:rPr lang="en-US" sz="2000" dirty="0">
                <a:cs typeface="DIN Pro Regular" panose="020B0504020101020102" pitchFamily="34" charset="0"/>
              </a:rPr>
              <a:t>Appendix</a:t>
            </a:r>
          </a:p>
        </p:txBody>
      </p:sp>
    </p:spTree>
    <p:custDataLst>
      <p:tags r:id="rId1"/>
    </p:custDataLst>
    <p:extLst>
      <p:ext uri="{BB962C8B-B14F-4D97-AF65-F5344CB8AC3E}">
        <p14:creationId xmlns:p14="http://schemas.microsoft.com/office/powerpoint/2010/main" val="1453241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8DC5-8A48-2A34-31B9-FC8CB168CAED}"/>
              </a:ext>
            </a:extLst>
          </p:cNvPr>
          <p:cNvSpPr>
            <a:spLocks noGrp="1"/>
          </p:cNvSpPr>
          <p:nvPr>
            <p:ph type="title"/>
          </p:nvPr>
        </p:nvSpPr>
        <p:spPr>
          <a:xfrm>
            <a:off x="733926" y="304965"/>
            <a:ext cx="8565109" cy="1325563"/>
          </a:xfrm>
        </p:spPr>
        <p:txBody>
          <a:bodyPr anchor="ctr">
            <a:normAutofit/>
          </a:bodyPr>
          <a:lstStyle/>
          <a:p>
            <a:r>
              <a:rPr lang="en-US" dirty="0">
                <a:latin typeface="IBM Plex Sans" panose="020B0503050203000203" pitchFamily="34" charset="0"/>
                <a:cs typeface="DIN Pro Regular" panose="020B0504020101020102" pitchFamily="34" charset="0"/>
              </a:rPr>
              <a:t>EXECUTIVE SUMMARY</a:t>
            </a:r>
          </a:p>
        </p:txBody>
      </p:sp>
      <p:pic>
        <p:nvPicPr>
          <p:cNvPr id="7" name="Picture 6">
            <a:extLst>
              <a:ext uri="{FF2B5EF4-FFF2-40B4-BE49-F238E27FC236}">
                <a16:creationId xmlns:a16="http://schemas.microsoft.com/office/drawing/2014/main" id="{DA6795A9-FE70-B337-8B17-B79ACA60A9C1}"/>
              </a:ext>
            </a:extLst>
          </p:cNvPr>
          <p:cNvPicPr>
            <a:picLocks noChangeAspect="1"/>
          </p:cNvPicPr>
          <p:nvPr/>
        </p:nvPicPr>
        <p:blipFill>
          <a:blip r:embed="rId3"/>
          <a:stretch>
            <a:fillRect/>
          </a:stretch>
        </p:blipFill>
        <p:spPr>
          <a:xfrm>
            <a:off x="1090494" y="2302762"/>
            <a:ext cx="3194581" cy="3194581"/>
          </a:xfrm>
          <a:prstGeom prst="rect">
            <a:avLst/>
          </a:prstGeom>
        </p:spPr>
      </p:pic>
      <p:graphicFrame>
        <p:nvGraphicFramePr>
          <p:cNvPr id="4" name="Diagram 3">
            <a:extLst>
              <a:ext uri="{FF2B5EF4-FFF2-40B4-BE49-F238E27FC236}">
                <a16:creationId xmlns:a16="http://schemas.microsoft.com/office/drawing/2014/main" id="{B033F753-8133-D525-A533-F154584D0AE5}"/>
              </a:ext>
            </a:extLst>
          </p:cNvPr>
          <p:cNvGraphicFramePr/>
          <p:nvPr>
            <p:extLst>
              <p:ext uri="{D42A27DB-BD31-4B8C-83A1-F6EECF244321}">
                <p14:modId xmlns:p14="http://schemas.microsoft.com/office/powerpoint/2010/main" val="2082233403"/>
              </p:ext>
            </p:extLst>
          </p:nvPr>
        </p:nvGraphicFramePr>
        <p:xfrm>
          <a:off x="4751614" y="1630528"/>
          <a:ext cx="6706460" cy="45462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1555385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FB0-8465-86A8-332A-32CC35A5D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7DC8D-244C-F7EC-5F66-ACB99A7D61C9}"/>
              </a:ext>
            </a:extLst>
          </p:cNvPr>
          <p:cNvSpPr>
            <a:spLocks noGrp="1"/>
          </p:cNvSpPr>
          <p:nvPr>
            <p:ph type="title"/>
          </p:nvPr>
        </p:nvSpPr>
        <p:spPr>
          <a:xfrm>
            <a:off x="770021" y="365125"/>
            <a:ext cx="7647865" cy="1325563"/>
          </a:xfrm>
        </p:spPr>
        <p:txBody>
          <a:bodyPr anchor="ctr">
            <a:normAutofit/>
          </a:bodyPr>
          <a:lstStyle/>
          <a:p>
            <a:r>
              <a:rPr lang="en-US" sz="4400" dirty="0">
                <a:latin typeface="IBM Plex Sans" panose="020B0503050203000203" pitchFamily="34" charset="0"/>
                <a:cs typeface="DIN Pro Regular" panose="020B0504020101020102" pitchFamily="34" charset="0"/>
              </a:rPr>
              <a:t>INTRODUCTION</a:t>
            </a:r>
          </a:p>
        </p:txBody>
      </p:sp>
      <p:pic>
        <p:nvPicPr>
          <p:cNvPr id="3" name="Picture 2">
            <a:extLst>
              <a:ext uri="{FF2B5EF4-FFF2-40B4-BE49-F238E27FC236}">
                <a16:creationId xmlns:a16="http://schemas.microsoft.com/office/drawing/2014/main" id="{BBCC879F-E713-B75A-D2DE-0953EB0EA469}"/>
              </a:ext>
            </a:extLst>
          </p:cNvPr>
          <p:cNvPicPr>
            <a:picLocks noChangeAspect="1"/>
          </p:cNvPicPr>
          <p:nvPr/>
        </p:nvPicPr>
        <p:blipFill>
          <a:blip r:embed="rId3"/>
          <a:stretch>
            <a:fillRect/>
          </a:stretch>
        </p:blipFill>
        <p:spPr>
          <a:xfrm>
            <a:off x="994347" y="2262036"/>
            <a:ext cx="3054361" cy="3054361"/>
          </a:xfrm>
          <a:prstGeom prst="rect">
            <a:avLst/>
          </a:prstGeom>
        </p:spPr>
      </p:pic>
      <p:sp>
        <p:nvSpPr>
          <p:cNvPr id="5" name="Content Placeholder 2">
            <a:extLst>
              <a:ext uri="{FF2B5EF4-FFF2-40B4-BE49-F238E27FC236}">
                <a16:creationId xmlns:a16="http://schemas.microsoft.com/office/drawing/2014/main" id="{46A1F4C8-105E-CDF6-2A65-0FE45EEA870B}"/>
              </a:ext>
            </a:extLst>
          </p:cNvPr>
          <p:cNvSpPr txBox="1">
            <a:spLocks/>
          </p:cNvSpPr>
          <p:nvPr/>
        </p:nvSpPr>
        <p:spPr>
          <a:xfrm>
            <a:off x="4500283" y="1630528"/>
            <a:ext cx="7326484" cy="44654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ID" sz="2200" dirty="0">
              <a:latin typeface="DIN Pro Regular" panose="020B0504020101020102" pitchFamily="34" charset="0"/>
              <a:cs typeface="DIN Pro Regular" panose="020B0504020101020102" pitchFamily="34" charset="0"/>
            </a:endParaRPr>
          </a:p>
        </p:txBody>
      </p:sp>
      <p:sp>
        <p:nvSpPr>
          <p:cNvPr id="6" name="Content Placeholder 2">
            <a:extLst>
              <a:ext uri="{FF2B5EF4-FFF2-40B4-BE49-F238E27FC236}">
                <a16:creationId xmlns:a16="http://schemas.microsoft.com/office/drawing/2014/main" id="{901D76E1-0AF2-1B90-27E6-2BB5AF55912E}"/>
              </a:ext>
            </a:extLst>
          </p:cNvPr>
          <p:cNvSpPr txBox="1">
            <a:spLocks/>
          </p:cNvSpPr>
          <p:nvPr/>
        </p:nvSpPr>
        <p:spPr>
          <a:xfrm>
            <a:off x="5060731" y="1630528"/>
            <a:ext cx="6766035" cy="44654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ID" sz="1800" dirty="0">
                <a:cs typeface="DIN Pro Regular" panose="020B0504020101020102" pitchFamily="34" charset="0"/>
              </a:rPr>
              <a:t>This report was created to provide an overview into the experiences, preferences, and technology trends among developers based on the survey result dataset, which can be used to: </a:t>
            </a:r>
          </a:p>
          <a:p>
            <a:pPr marL="457200" indent="-457200">
              <a:buAutoNum type="arabicParenBoth"/>
            </a:pPr>
            <a:r>
              <a:rPr lang="en-ID" sz="1800" dirty="0">
                <a:cs typeface="DIN Pro Regular" panose="020B0504020101020102" pitchFamily="34" charset="0"/>
              </a:rPr>
              <a:t>Analyse and determine the new focus of future technology developments.</a:t>
            </a:r>
          </a:p>
          <a:p>
            <a:pPr marL="457200" indent="-457200">
              <a:buAutoNum type="arabicParenBoth"/>
            </a:pPr>
            <a:r>
              <a:rPr lang="en-ID" sz="1800" dirty="0">
                <a:cs typeface="DIN Pro Regular" panose="020B0504020101020102" pitchFamily="34" charset="0"/>
              </a:rPr>
              <a:t>Mapping of Training Need Analysis for developers based on needs (age, experience, language, database, platform, tools, etc.)</a:t>
            </a:r>
          </a:p>
          <a:p>
            <a:pPr marL="457200" indent="-457200">
              <a:buAutoNum type="arabicParenBoth"/>
            </a:pPr>
            <a:r>
              <a:rPr lang="en-ID" sz="1800" dirty="0">
                <a:cs typeface="DIN Pro Regular" panose="020B0504020101020102" pitchFamily="34" charset="0"/>
              </a:rPr>
              <a:t>Data-driven decision-making regarding hiring process of developers based on available demographic information.</a:t>
            </a:r>
          </a:p>
          <a:p>
            <a:pPr marL="457200" indent="-457200">
              <a:buAutoNum type="arabicParenBoth"/>
            </a:pPr>
            <a:r>
              <a:rPr lang="en-ID" sz="1800" dirty="0">
                <a:cs typeface="DIN Pro Regular" panose="020B0504020101020102" pitchFamily="34" charset="0"/>
              </a:rPr>
              <a:t>Understanding developer job satisfaction, compensation, and work environments.</a:t>
            </a:r>
          </a:p>
          <a:p>
            <a:pPr marL="457200" indent="-457200">
              <a:buAutoNum type="arabicParenBoth"/>
            </a:pPr>
            <a:r>
              <a:rPr lang="en-ID" sz="1800" dirty="0">
                <a:cs typeface="DIN Pro Regular" panose="020B0504020101020102" pitchFamily="34" charset="0"/>
              </a:rPr>
              <a:t>Studying global and regional differences in developer demographics and experience. </a:t>
            </a:r>
          </a:p>
        </p:txBody>
      </p:sp>
    </p:spTree>
    <p:custDataLst>
      <p:tags r:id="rId1"/>
    </p:custDataLst>
    <p:extLst>
      <p:ext uri="{BB962C8B-B14F-4D97-AF65-F5344CB8AC3E}">
        <p14:creationId xmlns:p14="http://schemas.microsoft.com/office/powerpoint/2010/main" val="204086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1DCFD-8450-17AD-05D4-229BA1C6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AB7E7-7534-10CB-A359-88015C285B97}"/>
              </a:ext>
            </a:extLst>
          </p:cNvPr>
          <p:cNvSpPr>
            <a:spLocks noGrp="1"/>
          </p:cNvSpPr>
          <p:nvPr>
            <p:ph type="title"/>
          </p:nvPr>
        </p:nvSpPr>
        <p:spPr>
          <a:xfrm>
            <a:off x="782053" y="376642"/>
            <a:ext cx="7230723" cy="1325563"/>
          </a:xfrm>
        </p:spPr>
        <p:txBody>
          <a:bodyPr anchor="ctr">
            <a:normAutofit/>
          </a:bodyPr>
          <a:lstStyle/>
          <a:p>
            <a:r>
              <a:rPr lang="en-US" sz="4400" dirty="0">
                <a:latin typeface="IBM Plex Sans" panose="020B0503050203000203" pitchFamily="34" charset="0"/>
                <a:cs typeface="DIN Pro Regular" panose="020B0504020101020102" pitchFamily="34" charset="0"/>
              </a:rPr>
              <a:t>METHODOLOGY</a:t>
            </a:r>
          </a:p>
        </p:txBody>
      </p:sp>
      <p:pic>
        <p:nvPicPr>
          <p:cNvPr id="4" name="Picture 3">
            <a:extLst>
              <a:ext uri="{FF2B5EF4-FFF2-40B4-BE49-F238E27FC236}">
                <a16:creationId xmlns:a16="http://schemas.microsoft.com/office/drawing/2014/main" id="{280CF71F-8A03-DAC7-4BC2-F05644ECBFFF}"/>
              </a:ext>
            </a:extLst>
          </p:cNvPr>
          <p:cNvPicPr>
            <a:picLocks noChangeAspect="1"/>
          </p:cNvPicPr>
          <p:nvPr/>
        </p:nvPicPr>
        <p:blipFill>
          <a:blip r:embed="rId3"/>
          <a:stretch>
            <a:fillRect/>
          </a:stretch>
        </p:blipFill>
        <p:spPr>
          <a:xfrm>
            <a:off x="979655" y="1831709"/>
            <a:ext cx="3194581" cy="3194581"/>
          </a:xfrm>
          <a:prstGeom prst="rect">
            <a:avLst/>
          </a:prstGeom>
        </p:spPr>
      </p:pic>
      <p:sp>
        <p:nvSpPr>
          <p:cNvPr id="6" name="Content Placeholder 2">
            <a:extLst>
              <a:ext uri="{FF2B5EF4-FFF2-40B4-BE49-F238E27FC236}">
                <a16:creationId xmlns:a16="http://schemas.microsoft.com/office/drawing/2014/main" id="{A8432EA7-40D8-CFE1-198C-270CE4C462BC}"/>
              </a:ext>
            </a:extLst>
          </p:cNvPr>
          <p:cNvSpPr txBox="1">
            <a:spLocks/>
          </p:cNvSpPr>
          <p:nvPr/>
        </p:nvSpPr>
        <p:spPr>
          <a:xfrm>
            <a:off x="5213131" y="1702205"/>
            <a:ext cx="6766035" cy="47791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ID" sz="1800" dirty="0">
                <a:cs typeface="DIN Pro Regular" panose="020B0504020101020102" pitchFamily="34" charset="0"/>
              </a:rPr>
              <a:t>Data sources</a:t>
            </a:r>
          </a:p>
          <a:p>
            <a:pPr lvl="1"/>
            <a:r>
              <a:rPr lang="en-ID" sz="1400" dirty="0">
                <a:cs typeface="DIN Pro Regular" panose="020B0504020101020102" pitchFamily="34" charset="0"/>
              </a:rPr>
              <a:t>GitHub Jobs API</a:t>
            </a:r>
          </a:p>
          <a:p>
            <a:pPr lvl="1"/>
            <a:r>
              <a:rPr lang="en-ID" sz="1400" dirty="0">
                <a:cs typeface="DIN Pro Regular" panose="020B0504020101020102" pitchFamily="34" charset="0"/>
              </a:rPr>
              <a:t>Programming language salaries from Web Scraping</a:t>
            </a:r>
          </a:p>
          <a:p>
            <a:pPr lvl="1"/>
            <a:r>
              <a:rPr lang="en-ID" sz="1400" dirty="0">
                <a:cs typeface="DIN Pro Regular" panose="020B0504020101020102" pitchFamily="34" charset="0"/>
              </a:rPr>
              <a:t>Stack Overflow Developer Survey (https://</a:t>
            </a:r>
            <a:r>
              <a:rPr lang="en-ID" sz="1400" dirty="0" err="1">
                <a:cs typeface="DIN Pro Regular" panose="020B0504020101020102" pitchFamily="34" charset="0"/>
              </a:rPr>
              <a:t>survey.stackoverflow.co</a:t>
            </a:r>
            <a:r>
              <a:rPr lang="en-ID" sz="1400" dirty="0">
                <a:cs typeface="DIN Pro Regular" panose="020B0504020101020102" pitchFamily="34" charset="0"/>
              </a:rPr>
              <a:t>/)</a:t>
            </a:r>
          </a:p>
          <a:p>
            <a:r>
              <a:rPr lang="en-ID" sz="1800" dirty="0">
                <a:cs typeface="DIN Pro Regular" panose="020B0504020101020102" pitchFamily="34" charset="0"/>
              </a:rPr>
              <a:t>Collection methods</a:t>
            </a:r>
          </a:p>
          <a:p>
            <a:pPr lvl="1"/>
            <a:r>
              <a:rPr lang="en-ID" sz="1400" dirty="0">
                <a:cs typeface="DIN Pro Regular" panose="020B0504020101020102" pitchFamily="34" charset="0"/>
              </a:rPr>
              <a:t>APIs</a:t>
            </a:r>
          </a:p>
          <a:p>
            <a:pPr lvl="1"/>
            <a:r>
              <a:rPr lang="en-ID" sz="1400" dirty="0">
                <a:cs typeface="DIN Pro Regular" panose="020B0504020101020102" pitchFamily="34" charset="0"/>
              </a:rPr>
              <a:t>Web scrapping</a:t>
            </a:r>
          </a:p>
          <a:p>
            <a:r>
              <a:rPr lang="en-ID" sz="1800" dirty="0">
                <a:cs typeface="DIN Pro Regular" panose="020B0504020101020102" pitchFamily="34" charset="0"/>
              </a:rPr>
              <a:t>Data wrangling methods</a:t>
            </a:r>
          </a:p>
          <a:p>
            <a:pPr lvl="1"/>
            <a:r>
              <a:rPr lang="en-ID" sz="1400" dirty="0">
                <a:cs typeface="DIN Pro Regular" panose="020B0504020101020102" pitchFamily="34" charset="0"/>
              </a:rPr>
              <a:t>Finding and removing duplicates</a:t>
            </a:r>
          </a:p>
          <a:p>
            <a:pPr lvl="1"/>
            <a:r>
              <a:rPr lang="en-ID" sz="1400" dirty="0">
                <a:cs typeface="DIN Pro Regular" panose="020B0504020101020102" pitchFamily="34" charset="0"/>
              </a:rPr>
              <a:t>Finding missing value</a:t>
            </a:r>
          </a:p>
          <a:p>
            <a:pPr lvl="1"/>
            <a:r>
              <a:rPr lang="en-ID" sz="1400" dirty="0">
                <a:cs typeface="DIN Pro Regular" panose="020B0504020101020102" pitchFamily="34" charset="0"/>
              </a:rPr>
              <a:t>Removing or imputing missing value</a:t>
            </a:r>
          </a:p>
          <a:p>
            <a:pPr lvl="1"/>
            <a:r>
              <a:rPr lang="en-ID" sz="1400" dirty="0">
                <a:cs typeface="DIN Pro Regular" panose="020B0504020101020102" pitchFamily="34" charset="0"/>
              </a:rPr>
              <a:t>Normalizing data</a:t>
            </a:r>
          </a:p>
          <a:p>
            <a:r>
              <a:rPr lang="en-ID" sz="1800" dirty="0">
                <a:cs typeface="DIN Pro Regular" panose="020B0504020101020102" pitchFamily="34" charset="0"/>
              </a:rPr>
              <a:t>Data exploration and visualization methods</a:t>
            </a:r>
          </a:p>
          <a:p>
            <a:pPr lvl="1"/>
            <a:r>
              <a:rPr lang="en-ID" sz="1400" dirty="0" err="1">
                <a:cs typeface="DIN Pro Regular" panose="020B0504020101020102" pitchFamily="34" charset="0"/>
              </a:rPr>
              <a:t>Analyzing</a:t>
            </a:r>
            <a:r>
              <a:rPr lang="en-ID" sz="1400" dirty="0">
                <a:cs typeface="DIN Pro Regular" panose="020B0504020101020102" pitchFamily="34" charset="0"/>
              </a:rPr>
              <a:t> data</a:t>
            </a:r>
          </a:p>
          <a:p>
            <a:pPr lvl="1"/>
            <a:r>
              <a:rPr lang="en-ID" sz="1400" dirty="0">
                <a:cs typeface="DIN Pro Regular" panose="020B0504020101020102" pitchFamily="34" charset="0"/>
              </a:rPr>
              <a:t>Finding and handling outliers</a:t>
            </a:r>
          </a:p>
          <a:p>
            <a:r>
              <a:rPr lang="en-ID" sz="1800" dirty="0">
                <a:cs typeface="DIN Pro Regular" panose="020B0504020101020102" pitchFamily="34" charset="0"/>
              </a:rPr>
              <a:t>Dashboard creation tools</a:t>
            </a:r>
          </a:p>
          <a:p>
            <a:pPr lvl="1"/>
            <a:r>
              <a:rPr lang="en-ID" sz="1400" dirty="0">
                <a:cs typeface="DIN Pro Regular" panose="020B0504020101020102" pitchFamily="34" charset="0"/>
              </a:rPr>
              <a:t>IBM Cognos Analytics</a:t>
            </a:r>
          </a:p>
        </p:txBody>
      </p:sp>
    </p:spTree>
    <p:custDataLst>
      <p:tags r:id="rId1"/>
    </p:custDataLst>
    <p:extLst>
      <p:ext uri="{BB962C8B-B14F-4D97-AF65-F5344CB8AC3E}">
        <p14:creationId xmlns:p14="http://schemas.microsoft.com/office/powerpoint/2010/main" val="3791692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1685EC6-6413-7BDC-AD08-75381D1F6822}"/>
              </a:ext>
            </a:extLst>
          </p:cNvPr>
          <p:cNvSpPr>
            <a:spLocks noGrp="1"/>
          </p:cNvSpPr>
          <p:nvPr>
            <p:ph type="ctrTitle"/>
          </p:nvPr>
        </p:nvSpPr>
        <p:spPr/>
        <p:txBody>
          <a:bodyPr/>
          <a:lstStyle/>
          <a:p>
            <a:r>
              <a:rPr lang="en-US" dirty="0"/>
              <a:t>Result and Discussion</a:t>
            </a:r>
          </a:p>
        </p:txBody>
      </p:sp>
    </p:spTree>
    <p:extLst>
      <p:ext uri="{BB962C8B-B14F-4D97-AF65-F5344CB8AC3E}">
        <p14:creationId xmlns:p14="http://schemas.microsoft.com/office/powerpoint/2010/main" val="187257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7A2E-C667-F6D3-A1E3-47F70603EAB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539A591-4DF0-3912-FF72-3FD0BD7B9C1F}"/>
              </a:ext>
            </a:extLst>
          </p:cNvPr>
          <p:cNvSpPr>
            <a:spLocks noGrp="1"/>
          </p:cNvSpPr>
          <p:nvPr>
            <p:ph type="title"/>
          </p:nvPr>
        </p:nvSpPr>
        <p:spPr>
          <a:xfrm>
            <a:off x="838200" y="365125"/>
            <a:ext cx="10515600" cy="1325563"/>
          </a:xfrm>
        </p:spPr>
        <p:txBody>
          <a:bodyPr>
            <a:normAutofit/>
          </a:bodyPr>
          <a:lstStyle/>
          <a:p>
            <a:r>
              <a:rPr lang="en-US" sz="4400" dirty="0">
                <a:latin typeface="IBM Plex Sans" panose="020B0503050203000203" pitchFamily="34" charset="0"/>
                <a:cs typeface="DIN Pro Regular" panose="020B0504020101020102" pitchFamily="34" charset="0"/>
              </a:rPr>
              <a:t>PROGRAMMING LANGUAGE TRENDS</a:t>
            </a:r>
          </a:p>
        </p:txBody>
      </p:sp>
      <p:sp>
        <p:nvSpPr>
          <p:cNvPr id="8" name="Content Placeholder 2">
            <a:extLst>
              <a:ext uri="{FF2B5EF4-FFF2-40B4-BE49-F238E27FC236}">
                <a16:creationId xmlns:a16="http://schemas.microsoft.com/office/drawing/2014/main" id="{54B8C8AD-F58A-1F17-9CA2-E737E1949923}"/>
              </a:ext>
            </a:extLst>
          </p:cNvPr>
          <p:cNvSpPr>
            <a:spLocks noGrp="1"/>
          </p:cNvSpPr>
          <p:nvPr>
            <p:ph sz="half" idx="1"/>
          </p:nvPr>
        </p:nvSpPr>
        <p:spPr>
          <a:xfrm>
            <a:off x="917031" y="1539871"/>
            <a:ext cx="2228642" cy="501939"/>
          </a:xfrm>
          <a:solidFill>
            <a:schemeClr val="accent2"/>
          </a:solidFill>
        </p:spPr>
        <p:txBody>
          <a:bodyPr/>
          <a:lstStyle/>
          <a:p>
            <a:pPr marL="0" indent="0">
              <a:buNone/>
            </a:pPr>
            <a:r>
              <a:rPr lang="en-US" dirty="0">
                <a:cs typeface="DIN Pro Regular" panose="020B0504020101020102" pitchFamily="34" charset="0"/>
              </a:rPr>
              <a:t>Current Year</a:t>
            </a:r>
          </a:p>
        </p:txBody>
      </p:sp>
      <p:sp>
        <p:nvSpPr>
          <p:cNvPr id="9" name="Content Placeholder 3">
            <a:extLst>
              <a:ext uri="{FF2B5EF4-FFF2-40B4-BE49-F238E27FC236}">
                <a16:creationId xmlns:a16="http://schemas.microsoft.com/office/drawing/2014/main" id="{D9FB3B79-D3E9-99FC-ECF2-28CCBF64752F}"/>
              </a:ext>
            </a:extLst>
          </p:cNvPr>
          <p:cNvSpPr>
            <a:spLocks noGrp="1"/>
          </p:cNvSpPr>
          <p:nvPr>
            <p:ph sz="half" idx="2"/>
          </p:nvPr>
        </p:nvSpPr>
        <p:spPr>
          <a:xfrm>
            <a:off x="6403597" y="1539870"/>
            <a:ext cx="1758142" cy="501939"/>
          </a:xfrm>
          <a:solidFill>
            <a:schemeClr val="accent3"/>
          </a:solidFill>
        </p:spPr>
        <p:txBody>
          <a:bodyPr/>
          <a:lstStyle/>
          <a:p>
            <a:pPr marL="0" indent="0">
              <a:buNone/>
            </a:pPr>
            <a:r>
              <a:rPr lang="en-US" dirty="0">
                <a:cs typeface="DIN Pro Regular" panose="020B0504020101020102" pitchFamily="34" charset="0"/>
              </a:rPr>
              <a:t>Next Year</a:t>
            </a:r>
          </a:p>
        </p:txBody>
      </p:sp>
      <p:pic>
        <p:nvPicPr>
          <p:cNvPr id="3" name="Picture 2" descr="A graph with purple and black bars&#10;&#10;AI-generated content may be incorrect.">
            <a:extLst>
              <a:ext uri="{FF2B5EF4-FFF2-40B4-BE49-F238E27FC236}">
                <a16:creationId xmlns:a16="http://schemas.microsoft.com/office/drawing/2014/main" id="{EA18BC36-7232-7069-C963-A64E3CD19740}"/>
              </a:ext>
            </a:extLst>
          </p:cNvPr>
          <p:cNvPicPr>
            <a:picLocks noChangeAspect="1"/>
          </p:cNvPicPr>
          <p:nvPr/>
        </p:nvPicPr>
        <p:blipFill>
          <a:blip r:embed="rId3"/>
          <a:stretch>
            <a:fillRect/>
          </a:stretch>
        </p:blipFill>
        <p:spPr>
          <a:xfrm>
            <a:off x="838201" y="2506661"/>
            <a:ext cx="5441562" cy="2913682"/>
          </a:xfrm>
          <a:prstGeom prst="rect">
            <a:avLst/>
          </a:prstGeom>
        </p:spPr>
      </p:pic>
      <p:pic>
        <p:nvPicPr>
          <p:cNvPr id="6" name="Picture 5" descr="A graph of a number of people&#10;&#10;AI-generated content may be incorrect.">
            <a:extLst>
              <a:ext uri="{FF2B5EF4-FFF2-40B4-BE49-F238E27FC236}">
                <a16:creationId xmlns:a16="http://schemas.microsoft.com/office/drawing/2014/main" id="{8A50B57F-4353-AA9B-3090-6B4D58A8E197}"/>
              </a:ext>
            </a:extLst>
          </p:cNvPr>
          <p:cNvPicPr>
            <a:picLocks noChangeAspect="1"/>
          </p:cNvPicPr>
          <p:nvPr/>
        </p:nvPicPr>
        <p:blipFill>
          <a:blip r:embed="rId4"/>
          <a:stretch>
            <a:fillRect/>
          </a:stretch>
        </p:blipFill>
        <p:spPr>
          <a:xfrm>
            <a:off x="6403597" y="2506661"/>
            <a:ext cx="5441562" cy="2913682"/>
          </a:xfrm>
          <a:prstGeom prst="rect">
            <a:avLst/>
          </a:prstGeom>
        </p:spPr>
      </p:pic>
    </p:spTree>
    <p:custDataLst>
      <p:tags r:id="rId1"/>
    </p:custDataLst>
    <p:extLst>
      <p:ext uri="{BB962C8B-B14F-4D97-AF65-F5344CB8AC3E}">
        <p14:creationId xmlns:p14="http://schemas.microsoft.com/office/powerpoint/2010/main" val="3684467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7BF14-48B4-018D-63EE-DF24A5A8C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44DA4-C4B2-2A92-8A96-C527D8D026A7}"/>
              </a:ext>
            </a:extLst>
          </p:cNvPr>
          <p:cNvSpPr>
            <a:spLocks noGrp="1"/>
          </p:cNvSpPr>
          <p:nvPr>
            <p:ph type="title"/>
          </p:nvPr>
        </p:nvSpPr>
        <p:spPr>
          <a:xfrm>
            <a:off x="838200" y="365125"/>
            <a:ext cx="10515600" cy="1325563"/>
          </a:xfrm>
        </p:spPr>
        <p:txBody>
          <a:bodyPr>
            <a:normAutofit/>
          </a:bodyPr>
          <a:lstStyle/>
          <a:p>
            <a:r>
              <a:rPr lang="en-US" sz="4400" dirty="0">
                <a:latin typeface="IBM Plex Sans" panose="020B0503050203000203" pitchFamily="34" charset="0"/>
                <a:cs typeface="DIN Pro Regular" panose="020B0504020101020102" pitchFamily="34" charset="0"/>
              </a:rPr>
              <a:t>PROGRAMMING LANGUAGE TRENDS</a:t>
            </a:r>
            <a:endParaRPr lang="en-US" sz="4400" dirty="0">
              <a:latin typeface="IBM Plex Sans" panose="020B0503050203000203" pitchFamily="34" charset="0"/>
            </a:endParaRPr>
          </a:p>
        </p:txBody>
      </p:sp>
      <p:sp>
        <p:nvSpPr>
          <p:cNvPr id="3" name="Content Placeholder 2">
            <a:extLst>
              <a:ext uri="{FF2B5EF4-FFF2-40B4-BE49-F238E27FC236}">
                <a16:creationId xmlns:a16="http://schemas.microsoft.com/office/drawing/2014/main" id="{0E85DDBB-31B7-4F81-1E76-90009348F1DE}"/>
              </a:ext>
            </a:extLst>
          </p:cNvPr>
          <p:cNvSpPr>
            <a:spLocks noGrp="1"/>
          </p:cNvSpPr>
          <p:nvPr>
            <p:ph sz="half" idx="1"/>
          </p:nvPr>
        </p:nvSpPr>
        <p:spPr>
          <a:xfrm>
            <a:off x="813816" y="1825625"/>
            <a:ext cx="5282184" cy="4351338"/>
          </a:xfrm>
        </p:spPr>
        <p:txBody>
          <a:bodyPr>
            <a:normAutofit/>
          </a:bodyPr>
          <a:lstStyle/>
          <a:p>
            <a:pPr marL="0" indent="0">
              <a:buNone/>
            </a:pPr>
            <a:r>
              <a:rPr lang="en-US" b="1" dirty="0"/>
              <a:t>Findings</a:t>
            </a:r>
          </a:p>
          <a:p>
            <a:pPr marL="0" indent="0">
              <a:buNone/>
            </a:pPr>
            <a:endParaRPr lang="en-US" dirty="0"/>
          </a:p>
          <a:p>
            <a:r>
              <a:rPr lang="en-ID" sz="1900" dirty="0"/>
              <a:t>Java Script, SQL, Type Script, HTML, CSS, and Python are the top 5 languages ​​that are popularly used today and are expected to be used in the coming year, indicating continued strong interest in these languages.</a:t>
            </a:r>
          </a:p>
          <a:p>
            <a:r>
              <a:rPr lang="en-ID" sz="1900" dirty="0"/>
              <a:t>There is a significant desire for less commonly used languages like </a:t>
            </a:r>
            <a:r>
              <a:rPr lang="en-ID" sz="1900" b="1" dirty="0"/>
              <a:t>Go</a:t>
            </a:r>
            <a:r>
              <a:rPr lang="en-ID" sz="1900" dirty="0"/>
              <a:t> and </a:t>
            </a:r>
            <a:r>
              <a:rPr lang="en-ID" sz="1900" b="1" dirty="0"/>
              <a:t>Rust</a:t>
            </a:r>
            <a:r>
              <a:rPr lang="en-ID" sz="1900" dirty="0"/>
              <a:t>, to use those language in the next year despite lower current usage</a:t>
            </a:r>
          </a:p>
        </p:txBody>
      </p:sp>
      <p:sp>
        <p:nvSpPr>
          <p:cNvPr id="4" name="Content Placeholder 3">
            <a:extLst>
              <a:ext uri="{FF2B5EF4-FFF2-40B4-BE49-F238E27FC236}">
                <a16:creationId xmlns:a16="http://schemas.microsoft.com/office/drawing/2014/main" id="{D2166E7F-5223-7C98-EBC0-E8FA35940F98}"/>
              </a:ext>
            </a:extLst>
          </p:cNvPr>
          <p:cNvSpPr>
            <a:spLocks noGrp="1"/>
          </p:cNvSpPr>
          <p:nvPr>
            <p:ph sz="half" idx="2"/>
          </p:nvPr>
        </p:nvSpPr>
        <p:spPr>
          <a:xfrm>
            <a:off x="6327475" y="1825625"/>
            <a:ext cx="5181600" cy="4351338"/>
          </a:xfrm>
        </p:spPr>
        <p:txBody>
          <a:bodyPr>
            <a:normAutofit/>
          </a:bodyPr>
          <a:lstStyle/>
          <a:p>
            <a:pPr marL="0" indent="0">
              <a:buNone/>
            </a:pPr>
            <a:r>
              <a:rPr lang="en-US" b="1" dirty="0"/>
              <a:t>Implications</a:t>
            </a:r>
          </a:p>
          <a:p>
            <a:pPr marL="0" indent="0">
              <a:buNone/>
            </a:pPr>
            <a:endParaRPr lang="en-US" dirty="0"/>
          </a:p>
          <a:p>
            <a:r>
              <a:rPr lang="en-ID" sz="1900" dirty="0"/>
              <a:t>Training for the top 5 languages ​​can be continued and deepened considering their popularity until next year.</a:t>
            </a:r>
          </a:p>
          <a:p>
            <a:r>
              <a:rPr lang="en-US" sz="1900" dirty="0"/>
              <a:t>Training for less commonly used language (</a:t>
            </a:r>
            <a:r>
              <a:rPr lang="en-US" sz="1900" b="1" dirty="0"/>
              <a:t>Go</a:t>
            </a:r>
            <a:r>
              <a:rPr lang="en-US" sz="1900" dirty="0"/>
              <a:t> and </a:t>
            </a:r>
            <a:r>
              <a:rPr lang="en-US" sz="1900" b="1" dirty="0"/>
              <a:t>Rust</a:t>
            </a:r>
            <a:r>
              <a:rPr lang="en-US" sz="1900" dirty="0"/>
              <a:t>) can be initiated this year to prepare for its use next year.</a:t>
            </a:r>
          </a:p>
          <a:p>
            <a:r>
              <a:rPr lang="en-ID" sz="1900" dirty="0"/>
              <a:t>PHP's performance is poor even though it is easy to use, so it does not support current technological developments and needs, so many developers are switching to other languages.</a:t>
            </a:r>
          </a:p>
        </p:txBody>
      </p:sp>
    </p:spTree>
    <p:custDataLst>
      <p:tags r:id="rId1"/>
    </p:custDataLst>
    <p:extLst>
      <p:ext uri="{BB962C8B-B14F-4D97-AF65-F5344CB8AC3E}">
        <p14:creationId xmlns:p14="http://schemas.microsoft.com/office/powerpoint/2010/main" val="3701288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0F35-C02C-0C12-3664-049CAC5AF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B430B-2D6C-26E3-5D00-4D061A250E06}"/>
              </a:ext>
            </a:extLst>
          </p:cNvPr>
          <p:cNvSpPr>
            <a:spLocks noGrp="1"/>
          </p:cNvSpPr>
          <p:nvPr>
            <p:ph type="title"/>
          </p:nvPr>
        </p:nvSpPr>
        <p:spPr>
          <a:xfrm>
            <a:off x="862584" y="428768"/>
            <a:ext cx="10515600" cy="1325563"/>
          </a:xfrm>
        </p:spPr>
        <p:txBody>
          <a:bodyPr>
            <a:normAutofit/>
          </a:bodyPr>
          <a:lstStyle/>
          <a:p>
            <a:r>
              <a:rPr lang="en-US" sz="4400" dirty="0">
                <a:latin typeface="IBM Plex Sans" panose="020B0503050203000203" pitchFamily="34" charset="0"/>
                <a:cs typeface="DIN Pro Regular" panose="020B0504020101020102" pitchFamily="34" charset="0"/>
              </a:rPr>
              <a:t>DATABASE TRENDS</a:t>
            </a:r>
          </a:p>
        </p:txBody>
      </p:sp>
      <p:sp>
        <p:nvSpPr>
          <p:cNvPr id="3" name="Content Placeholder 2">
            <a:extLst>
              <a:ext uri="{FF2B5EF4-FFF2-40B4-BE49-F238E27FC236}">
                <a16:creationId xmlns:a16="http://schemas.microsoft.com/office/drawing/2014/main" id="{6C2B3FA5-2985-EAFB-8885-6820D4058AF4}"/>
              </a:ext>
            </a:extLst>
          </p:cNvPr>
          <p:cNvSpPr>
            <a:spLocks noGrp="1"/>
          </p:cNvSpPr>
          <p:nvPr>
            <p:ph sz="half" idx="1"/>
          </p:nvPr>
        </p:nvSpPr>
        <p:spPr>
          <a:xfrm>
            <a:off x="813816" y="1825625"/>
            <a:ext cx="2228642" cy="501939"/>
          </a:xfrm>
          <a:solidFill>
            <a:schemeClr val="accent2"/>
          </a:solidFill>
        </p:spPr>
        <p:txBody>
          <a:bodyPr/>
          <a:lstStyle/>
          <a:p>
            <a:pPr marL="0" indent="0">
              <a:buNone/>
            </a:pPr>
            <a:r>
              <a:rPr lang="en-US" dirty="0"/>
              <a:t>Current Year</a:t>
            </a:r>
          </a:p>
        </p:txBody>
      </p:sp>
      <p:sp>
        <p:nvSpPr>
          <p:cNvPr id="4" name="Content Placeholder 3">
            <a:extLst>
              <a:ext uri="{FF2B5EF4-FFF2-40B4-BE49-F238E27FC236}">
                <a16:creationId xmlns:a16="http://schemas.microsoft.com/office/drawing/2014/main" id="{30E0AA0B-A66B-F896-65D9-69DDA700D8E7}"/>
              </a:ext>
            </a:extLst>
          </p:cNvPr>
          <p:cNvSpPr>
            <a:spLocks noGrp="1"/>
          </p:cNvSpPr>
          <p:nvPr>
            <p:ph sz="half" idx="2"/>
          </p:nvPr>
        </p:nvSpPr>
        <p:spPr>
          <a:xfrm>
            <a:off x="6351613" y="1825624"/>
            <a:ext cx="1758142" cy="501939"/>
          </a:xfrm>
          <a:solidFill>
            <a:schemeClr val="accent3"/>
          </a:solidFill>
        </p:spPr>
        <p:txBody>
          <a:bodyPr/>
          <a:lstStyle/>
          <a:p>
            <a:pPr marL="0" indent="0">
              <a:buNone/>
            </a:pPr>
            <a:r>
              <a:rPr lang="en-US" dirty="0"/>
              <a:t>Next Year</a:t>
            </a:r>
          </a:p>
        </p:txBody>
      </p:sp>
      <p:pic>
        <p:nvPicPr>
          <p:cNvPr id="8" name="Picture 7" descr="A graph of data with purple squares&#10;&#10;AI-generated content may be incorrect.">
            <a:extLst>
              <a:ext uri="{FF2B5EF4-FFF2-40B4-BE49-F238E27FC236}">
                <a16:creationId xmlns:a16="http://schemas.microsoft.com/office/drawing/2014/main" id="{6844D3A9-C3A0-9AC2-2DFB-90D50346CAE9}"/>
              </a:ext>
            </a:extLst>
          </p:cNvPr>
          <p:cNvPicPr>
            <a:picLocks noChangeAspect="1"/>
          </p:cNvPicPr>
          <p:nvPr/>
        </p:nvPicPr>
        <p:blipFill>
          <a:blip r:embed="rId3"/>
          <a:stretch>
            <a:fillRect/>
          </a:stretch>
        </p:blipFill>
        <p:spPr>
          <a:xfrm>
            <a:off x="862585" y="2506661"/>
            <a:ext cx="5287770" cy="2811573"/>
          </a:xfrm>
          <a:prstGeom prst="rect">
            <a:avLst/>
          </a:prstGeom>
        </p:spPr>
      </p:pic>
      <p:pic>
        <p:nvPicPr>
          <p:cNvPr id="10" name="Picture 9" descr="A graph of a number of people&#10;&#10;AI-generated content may be incorrect.">
            <a:extLst>
              <a:ext uri="{FF2B5EF4-FFF2-40B4-BE49-F238E27FC236}">
                <a16:creationId xmlns:a16="http://schemas.microsoft.com/office/drawing/2014/main" id="{C8E8BD5B-FC37-0B21-EA34-693B971DBA53}"/>
              </a:ext>
            </a:extLst>
          </p:cNvPr>
          <p:cNvPicPr>
            <a:picLocks noChangeAspect="1"/>
          </p:cNvPicPr>
          <p:nvPr/>
        </p:nvPicPr>
        <p:blipFill>
          <a:blip r:embed="rId4"/>
          <a:stretch>
            <a:fillRect/>
          </a:stretch>
        </p:blipFill>
        <p:spPr>
          <a:xfrm>
            <a:off x="6351613" y="2506661"/>
            <a:ext cx="5319498" cy="2811573"/>
          </a:xfrm>
          <a:prstGeom prst="rect">
            <a:avLst/>
          </a:prstGeom>
        </p:spPr>
      </p:pic>
    </p:spTree>
    <p:custDataLst>
      <p:tags r:id="rId1"/>
    </p:custDataLst>
    <p:extLst>
      <p:ext uri="{BB962C8B-B14F-4D97-AF65-F5344CB8AC3E}">
        <p14:creationId xmlns:p14="http://schemas.microsoft.com/office/powerpoint/2010/main" val="1502887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A6A9C-70D0-119E-38BE-1738DA5AD3A0}"/>
            </a:ext>
          </a:extLst>
        </p:cNvPr>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0B02FBD8-83EB-15F9-9A26-6F51B03FE2E9}"/>
              </a:ext>
            </a:extLst>
          </p:cNvPr>
          <p:cNvSpPr>
            <a:spLocks noGrp="1"/>
          </p:cNvSpPr>
          <p:nvPr>
            <p:ph sz="half" idx="1"/>
          </p:nvPr>
        </p:nvSpPr>
        <p:spPr>
          <a:xfrm>
            <a:off x="813816" y="1825625"/>
            <a:ext cx="5282184" cy="4351338"/>
          </a:xfrm>
        </p:spPr>
        <p:txBody>
          <a:bodyPr>
            <a:normAutofit fontScale="92500"/>
          </a:bodyPr>
          <a:lstStyle/>
          <a:p>
            <a:pPr marL="0" indent="0">
              <a:buNone/>
            </a:pPr>
            <a:r>
              <a:rPr lang="en-US" b="1" dirty="0"/>
              <a:t>Findings</a:t>
            </a:r>
          </a:p>
          <a:p>
            <a:pPr marL="0" indent="0">
              <a:buNone/>
            </a:pPr>
            <a:endParaRPr lang="en-US" dirty="0"/>
          </a:p>
          <a:p>
            <a:r>
              <a:rPr lang="en-ID" sz="2100" b="1" dirty="0"/>
              <a:t>PostgreSQL</a:t>
            </a:r>
            <a:r>
              <a:rPr lang="en-ID" sz="2100" dirty="0"/>
              <a:t>, </a:t>
            </a:r>
            <a:r>
              <a:rPr lang="en-ID" sz="2100" b="1" dirty="0"/>
              <a:t>SQLite</a:t>
            </a:r>
            <a:r>
              <a:rPr lang="en-ID" sz="2100" dirty="0"/>
              <a:t>, </a:t>
            </a:r>
            <a:r>
              <a:rPr lang="en-ID" sz="2100" b="1" dirty="0"/>
              <a:t>MySQL</a:t>
            </a:r>
            <a:r>
              <a:rPr lang="en-ID" sz="2100" dirty="0"/>
              <a:t> are a database that will remain popular for next year.</a:t>
            </a:r>
          </a:p>
          <a:p>
            <a:r>
              <a:rPr lang="en-ID" sz="2100" dirty="0"/>
              <a:t>Oracle, which was in the top 10 for the current year, is absent from the top 10 list for the next year, indicating declining interest.</a:t>
            </a:r>
          </a:p>
          <a:p>
            <a:r>
              <a:rPr lang="en-ID" sz="2100" dirty="0"/>
              <a:t>Redis show significant increases in interest for the next year, moving up the rankings.</a:t>
            </a:r>
          </a:p>
        </p:txBody>
      </p:sp>
      <p:sp>
        <p:nvSpPr>
          <p:cNvPr id="12" name="Content Placeholder 3">
            <a:extLst>
              <a:ext uri="{FF2B5EF4-FFF2-40B4-BE49-F238E27FC236}">
                <a16:creationId xmlns:a16="http://schemas.microsoft.com/office/drawing/2014/main" id="{015BB8F5-2E02-2A19-086E-58C85E8FC889}"/>
              </a:ext>
            </a:extLst>
          </p:cNvPr>
          <p:cNvSpPr>
            <a:spLocks noGrp="1"/>
          </p:cNvSpPr>
          <p:nvPr>
            <p:ph sz="half" idx="2"/>
          </p:nvPr>
        </p:nvSpPr>
        <p:spPr>
          <a:xfrm>
            <a:off x="6327475" y="1825624"/>
            <a:ext cx="5181600" cy="4603607"/>
          </a:xfrm>
        </p:spPr>
        <p:txBody>
          <a:bodyPr>
            <a:normAutofit fontScale="92500"/>
          </a:bodyPr>
          <a:lstStyle/>
          <a:p>
            <a:pPr marL="0" indent="0">
              <a:buNone/>
            </a:pPr>
            <a:r>
              <a:rPr lang="en-US" b="1" dirty="0"/>
              <a:t>Implications</a:t>
            </a:r>
          </a:p>
          <a:p>
            <a:pPr marL="0" indent="0">
              <a:buNone/>
            </a:pPr>
            <a:endParaRPr lang="en-US" dirty="0"/>
          </a:p>
          <a:p>
            <a:r>
              <a:rPr lang="en-ID" sz="2100" dirty="0"/>
              <a:t>Training for </a:t>
            </a:r>
            <a:r>
              <a:rPr lang="en-ID" sz="2100" b="1" dirty="0"/>
              <a:t>PostgreSQL</a:t>
            </a:r>
            <a:r>
              <a:rPr lang="en-ID" sz="2100" dirty="0"/>
              <a:t>, </a:t>
            </a:r>
            <a:r>
              <a:rPr lang="en-ID" sz="2100" b="1" dirty="0"/>
              <a:t>SQLite</a:t>
            </a:r>
            <a:r>
              <a:rPr lang="en-ID" sz="2100" dirty="0"/>
              <a:t>, and </a:t>
            </a:r>
            <a:r>
              <a:rPr lang="en-ID" sz="2100" b="1" dirty="0"/>
              <a:t>MySQ</a:t>
            </a:r>
            <a:r>
              <a:rPr lang="en-ID" sz="2100" dirty="0"/>
              <a:t>L can be continued and deepened considering their popularity until next year.</a:t>
            </a:r>
          </a:p>
          <a:p>
            <a:r>
              <a:rPr lang="en-ID" sz="2100" dirty="0"/>
              <a:t>Shift investment from </a:t>
            </a:r>
            <a:r>
              <a:rPr lang="en-ID" sz="2100" b="1" dirty="0"/>
              <a:t>Oracle</a:t>
            </a:r>
            <a:r>
              <a:rPr lang="en-ID" sz="2100" dirty="0"/>
              <a:t> to </a:t>
            </a:r>
            <a:r>
              <a:rPr lang="en-ID" sz="2100" b="1" dirty="0"/>
              <a:t>PostgreSQL</a:t>
            </a:r>
            <a:r>
              <a:rPr lang="en-ID" sz="2100" dirty="0"/>
              <a:t> or </a:t>
            </a:r>
            <a:r>
              <a:rPr lang="en-ID" sz="2100" b="1" dirty="0"/>
              <a:t>MySQL</a:t>
            </a:r>
            <a:r>
              <a:rPr lang="en-ID" sz="2100" dirty="0"/>
              <a:t> because Oracle is paid database, even though both have good performance.</a:t>
            </a:r>
          </a:p>
          <a:p>
            <a:r>
              <a:rPr lang="en-ID" sz="2100" dirty="0"/>
              <a:t>Redis stores data in device memory so it has faster performance even though the data is not permanent, so many developers are starting to be interested in using Redis as session storage.</a:t>
            </a:r>
          </a:p>
        </p:txBody>
      </p:sp>
      <p:sp>
        <p:nvSpPr>
          <p:cNvPr id="15" name="Title 1">
            <a:extLst>
              <a:ext uri="{FF2B5EF4-FFF2-40B4-BE49-F238E27FC236}">
                <a16:creationId xmlns:a16="http://schemas.microsoft.com/office/drawing/2014/main" id="{7A08BBD4-A621-F966-1D6A-BD283008C017}"/>
              </a:ext>
            </a:extLst>
          </p:cNvPr>
          <p:cNvSpPr>
            <a:spLocks noGrp="1"/>
          </p:cNvSpPr>
          <p:nvPr>
            <p:ph type="title"/>
          </p:nvPr>
        </p:nvSpPr>
        <p:spPr>
          <a:xfrm>
            <a:off x="862584" y="428768"/>
            <a:ext cx="10515600" cy="1325563"/>
          </a:xfrm>
        </p:spPr>
        <p:txBody>
          <a:bodyPr>
            <a:normAutofit/>
          </a:bodyPr>
          <a:lstStyle/>
          <a:p>
            <a:r>
              <a:rPr lang="en-US" sz="4400" dirty="0">
                <a:latin typeface="IBM Plex Sans" panose="020B0503050203000203" pitchFamily="34" charset="0"/>
                <a:cs typeface="DIN Pro Regular" panose="020B0504020101020102" pitchFamily="34" charset="0"/>
              </a:rPr>
              <a:t>DATABASE TRENDS</a:t>
            </a:r>
          </a:p>
        </p:txBody>
      </p:sp>
    </p:spTree>
    <p:custDataLst>
      <p:tags r:id="rId1"/>
    </p:custDataLst>
    <p:extLst>
      <p:ext uri="{BB962C8B-B14F-4D97-AF65-F5344CB8AC3E}">
        <p14:creationId xmlns:p14="http://schemas.microsoft.com/office/powerpoint/2010/main" val="3188125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8291F-E27C-74F8-33D3-FF131FC9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B7D73-872E-CFE8-1C38-8422F383863C}"/>
              </a:ext>
            </a:extLst>
          </p:cNvPr>
          <p:cNvSpPr>
            <a:spLocks noGrp="1"/>
          </p:cNvSpPr>
          <p:nvPr>
            <p:ph type="title"/>
          </p:nvPr>
        </p:nvSpPr>
        <p:spPr>
          <a:xfrm>
            <a:off x="838200" y="365125"/>
            <a:ext cx="10515600" cy="1325563"/>
          </a:xfrm>
        </p:spPr>
        <p:txBody>
          <a:bodyPr anchor="ctr">
            <a:normAutofit/>
          </a:bodyPr>
          <a:lstStyle/>
          <a:p>
            <a:r>
              <a:rPr lang="en-US" sz="4400" dirty="0"/>
              <a:t>DASHBOARD</a:t>
            </a:r>
          </a:p>
        </p:txBody>
      </p:sp>
      <p:sp>
        <p:nvSpPr>
          <p:cNvPr id="3" name="Content Placeholder 2">
            <a:extLst>
              <a:ext uri="{FF2B5EF4-FFF2-40B4-BE49-F238E27FC236}">
                <a16:creationId xmlns:a16="http://schemas.microsoft.com/office/drawing/2014/main" id="{25C64183-B387-01E7-21BA-4DA6B1F51815}"/>
              </a:ext>
            </a:extLst>
          </p:cNvPr>
          <p:cNvSpPr txBox="1">
            <a:spLocks/>
          </p:cNvSpPr>
          <p:nvPr/>
        </p:nvSpPr>
        <p:spPr>
          <a:xfrm>
            <a:off x="4285075" y="3142211"/>
            <a:ext cx="7068725" cy="5344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200" dirty="0">
                <a:solidFill>
                  <a:schemeClr val="tx1"/>
                </a:solidFill>
                <a:hlinkClick r:id="rId3">
                  <a:extLst>
                    <a:ext uri="{A12FA001-AC4F-418D-AE19-62706E023703}">
                      <ahyp:hlinkClr xmlns:ahyp="http://schemas.microsoft.com/office/drawing/2018/hyperlinkcolor" val="tx"/>
                    </a:ext>
                  </a:extLst>
                </a:hlinkClick>
              </a:rPr>
              <a:t>Technology Trend Dashboard</a:t>
            </a:r>
            <a:endParaRPr lang="en-US" sz="2200" dirty="0">
              <a:solidFill>
                <a:schemeClr val="tx1"/>
              </a:solidFill>
            </a:endParaRPr>
          </a:p>
        </p:txBody>
      </p:sp>
      <p:pic>
        <p:nvPicPr>
          <p:cNvPr id="4" name="Picture 3">
            <a:extLst>
              <a:ext uri="{FF2B5EF4-FFF2-40B4-BE49-F238E27FC236}">
                <a16:creationId xmlns:a16="http://schemas.microsoft.com/office/drawing/2014/main" id="{A79822F7-4A79-5E92-9C6D-8A9769182E2E}"/>
              </a:ext>
            </a:extLst>
          </p:cNvPr>
          <p:cNvPicPr>
            <a:picLocks noChangeAspect="1"/>
          </p:cNvPicPr>
          <p:nvPr/>
        </p:nvPicPr>
        <p:blipFill>
          <a:blip r:embed="rId4"/>
          <a:stretch>
            <a:fillRect/>
          </a:stretch>
        </p:blipFill>
        <p:spPr>
          <a:xfrm>
            <a:off x="1077475" y="1901819"/>
            <a:ext cx="3054361" cy="3054361"/>
          </a:xfrm>
          <a:prstGeom prst="rect">
            <a:avLst/>
          </a:prstGeom>
        </p:spPr>
      </p:pic>
      <p:pic>
        <p:nvPicPr>
          <p:cNvPr id="7" name="Graphic 6" descr="Cursor with solid fill">
            <a:extLst>
              <a:ext uri="{FF2B5EF4-FFF2-40B4-BE49-F238E27FC236}">
                <a16:creationId xmlns:a16="http://schemas.microsoft.com/office/drawing/2014/main" id="{061B9C78-5991-1F43-A147-AAD3D1C8577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60166" y="3311235"/>
            <a:ext cx="365416" cy="365416"/>
          </a:xfrm>
          <a:prstGeom prst="rect">
            <a:avLst/>
          </a:prstGeom>
        </p:spPr>
      </p:pic>
      <p:sp>
        <p:nvSpPr>
          <p:cNvPr id="5" name="Content Placeholder 2">
            <a:extLst>
              <a:ext uri="{FF2B5EF4-FFF2-40B4-BE49-F238E27FC236}">
                <a16:creationId xmlns:a16="http://schemas.microsoft.com/office/drawing/2014/main" id="{E9D4FE58-9681-085D-E193-4CCC8344B443}"/>
              </a:ext>
            </a:extLst>
          </p:cNvPr>
          <p:cNvSpPr txBox="1">
            <a:spLocks/>
          </p:cNvSpPr>
          <p:nvPr/>
        </p:nvSpPr>
        <p:spPr>
          <a:xfrm>
            <a:off x="8282960" y="3600252"/>
            <a:ext cx="1071154" cy="245423"/>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200" dirty="0">
                <a:solidFill>
                  <a:srgbClr val="FF0000"/>
                </a:solidFill>
              </a:rPr>
              <a:t>Click here </a:t>
            </a:r>
            <a:r>
              <a:rPr lang="en-US" sz="2200" dirty="0">
                <a:solidFill>
                  <a:srgbClr val="FF0000"/>
                </a:solidFill>
                <a:sym typeface="Wingdings" pitchFamily="2" charset="2"/>
              </a:rPr>
              <a:t></a:t>
            </a:r>
            <a:endParaRPr lang="en-US" sz="2200" dirty="0">
              <a:solidFill>
                <a:srgbClr val="FF0000"/>
              </a:solidFill>
            </a:endParaRPr>
          </a:p>
        </p:txBody>
      </p:sp>
    </p:spTree>
    <p:custDataLst>
      <p:tags r:id="rId1"/>
    </p:custDataLst>
    <p:extLst>
      <p:ext uri="{BB962C8B-B14F-4D97-AF65-F5344CB8AC3E}">
        <p14:creationId xmlns:p14="http://schemas.microsoft.com/office/powerpoint/2010/main" val="175219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F0CA-55D1-0835-20D4-03D017A1D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93914-A678-A34E-C52A-16D0ADAA25AF}"/>
              </a:ext>
            </a:extLst>
          </p:cNvPr>
          <p:cNvSpPr>
            <a:spLocks noGrp="1"/>
          </p:cNvSpPr>
          <p:nvPr>
            <p:ph type="title"/>
          </p:nvPr>
        </p:nvSpPr>
        <p:spPr>
          <a:xfrm>
            <a:off x="838200" y="365125"/>
            <a:ext cx="10515600" cy="1325563"/>
          </a:xfrm>
        </p:spPr>
        <p:txBody>
          <a:bodyPr anchor="ctr">
            <a:normAutofit/>
          </a:bodyPr>
          <a:lstStyle/>
          <a:p>
            <a:r>
              <a:rPr lang="en-US" sz="4400" dirty="0"/>
              <a:t>DASHBOARD TAB 1</a:t>
            </a:r>
          </a:p>
        </p:txBody>
      </p:sp>
      <p:pic>
        <p:nvPicPr>
          <p:cNvPr id="4" name="Picture 3" descr="A close-up of a graph&#10;&#10;AI-generated content may be incorrect.">
            <a:extLst>
              <a:ext uri="{FF2B5EF4-FFF2-40B4-BE49-F238E27FC236}">
                <a16:creationId xmlns:a16="http://schemas.microsoft.com/office/drawing/2014/main" id="{993F7F05-5737-4602-918A-AAF65A4728D1}"/>
              </a:ext>
            </a:extLst>
          </p:cNvPr>
          <p:cNvPicPr>
            <a:picLocks noChangeAspect="1"/>
          </p:cNvPicPr>
          <p:nvPr/>
        </p:nvPicPr>
        <p:blipFill>
          <a:blip r:embed="rId3"/>
          <a:stretch>
            <a:fillRect/>
          </a:stretch>
        </p:blipFill>
        <p:spPr>
          <a:xfrm>
            <a:off x="838200" y="1440881"/>
            <a:ext cx="8338457" cy="4876876"/>
          </a:xfrm>
          <a:prstGeom prst="rect">
            <a:avLst/>
          </a:prstGeom>
        </p:spPr>
      </p:pic>
    </p:spTree>
    <p:custDataLst>
      <p:tags r:id="rId1"/>
    </p:custDataLst>
    <p:extLst>
      <p:ext uri="{BB962C8B-B14F-4D97-AF65-F5344CB8AC3E}">
        <p14:creationId xmlns:p14="http://schemas.microsoft.com/office/powerpoint/2010/main" val="2429736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F23D-B8D7-D0E4-EDC5-E0F023884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F933A-3681-3D82-68EF-62EC07822DAD}"/>
              </a:ext>
            </a:extLst>
          </p:cNvPr>
          <p:cNvSpPr>
            <a:spLocks noGrp="1"/>
          </p:cNvSpPr>
          <p:nvPr>
            <p:ph type="title"/>
          </p:nvPr>
        </p:nvSpPr>
        <p:spPr>
          <a:xfrm>
            <a:off x="838200" y="365125"/>
            <a:ext cx="10515600" cy="1325563"/>
          </a:xfrm>
        </p:spPr>
        <p:txBody>
          <a:bodyPr anchor="ctr">
            <a:normAutofit/>
          </a:bodyPr>
          <a:lstStyle/>
          <a:p>
            <a:r>
              <a:rPr lang="en-US" sz="4400" dirty="0"/>
              <a:t>DASHBOARD TAB 2</a:t>
            </a:r>
          </a:p>
        </p:txBody>
      </p:sp>
      <p:pic>
        <p:nvPicPr>
          <p:cNvPr id="7" name="Picture 6" descr="A collage of different colored graphs&#10;&#10;AI-generated content may be incorrect.">
            <a:extLst>
              <a:ext uri="{FF2B5EF4-FFF2-40B4-BE49-F238E27FC236}">
                <a16:creationId xmlns:a16="http://schemas.microsoft.com/office/drawing/2014/main" id="{0D4070E0-4F0A-DE7C-1A77-6DB7DCF8EE79}"/>
              </a:ext>
            </a:extLst>
          </p:cNvPr>
          <p:cNvPicPr>
            <a:picLocks noChangeAspect="1"/>
          </p:cNvPicPr>
          <p:nvPr/>
        </p:nvPicPr>
        <p:blipFill>
          <a:blip r:embed="rId3"/>
          <a:stretch>
            <a:fillRect/>
          </a:stretch>
        </p:blipFill>
        <p:spPr>
          <a:xfrm>
            <a:off x="838200" y="1417983"/>
            <a:ext cx="8446920" cy="4903304"/>
          </a:xfrm>
          <a:prstGeom prst="rect">
            <a:avLst/>
          </a:prstGeom>
        </p:spPr>
      </p:pic>
    </p:spTree>
    <p:custDataLst>
      <p:tags r:id="rId1"/>
    </p:custDataLst>
    <p:extLst>
      <p:ext uri="{BB962C8B-B14F-4D97-AF65-F5344CB8AC3E}">
        <p14:creationId xmlns:p14="http://schemas.microsoft.com/office/powerpoint/2010/main" val="2048496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A10D3-267F-7A90-5160-775BFEBCA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C0C82-5F1A-F7B1-2C56-5C08240C1647}"/>
              </a:ext>
            </a:extLst>
          </p:cNvPr>
          <p:cNvSpPr>
            <a:spLocks noGrp="1"/>
          </p:cNvSpPr>
          <p:nvPr>
            <p:ph type="title"/>
          </p:nvPr>
        </p:nvSpPr>
        <p:spPr>
          <a:xfrm>
            <a:off x="838200" y="365125"/>
            <a:ext cx="10515600" cy="1325563"/>
          </a:xfrm>
        </p:spPr>
        <p:txBody>
          <a:bodyPr anchor="ctr">
            <a:normAutofit/>
          </a:bodyPr>
          <a:lstStyle/>
          <a:p>
            <a:r>
              <a:rPr lang="en-US" sz="4400" dirty="0"/>
              <a:t>DASHBOARD TAB 3</a:t>
            </a:r>
          </a:p>
        </p:txBody>
      </p:sp>
      <p:pic>
        <p:nvPicPr>
          <p:cNvPr id="7" name="Picture 6" descr="A close-up of a graph&#10;&#10;AI-generated content may be incorrect.">
            <a:extLst>
              <a:ext uri="{FF2B5EF4-FFF2-40B4-BE49-F238E27FC236}">
                <a16:creationId xmlns:a16="http://schemas.microsoft.com/office/drawing/2014/main" id="{FEAD16D4-9779-4D56-4EC7-569E1AA83616}"/>
              </a:ext>
            </a:extLst>
          </p:cNvPr>
          <p:cNvPicPr>
            <a:picLocks noChangeAspect="1"/>
          </p:cNvPicPr>
          <p:nvPr/>
        </p:nvPicPr>
        <p:blipFill>
          <a:blip r:embed="rId3"/>
          <a:stretch>
            <a:fillRect/>
          </a:stretch>
        </p:blipFill>
        <p:spPr>
          <a:xfrm>
            <a:off x="838199" y="1492469"/>
            <a:ext cx="8694683" cy="4921287"/>
          </a:xfrm>
          <a:prstGeom prst="rect">
            <a:avLst/>
          </a:prstGeom>
        </p:spPr>
      </p:pic>
    </p:spTree>
    <p:custDataLst>
      <p:tags r:id="rId1"/>
    </p:custDataLst>
    <p:extLst>
      <p:ext uri="{BB962C8B-B14F-4D97-AF65-F5344CB8AC3E}">
        <p14:creationId xmlns:p14="http://schemas.microsoft.com/office/powerpoint/2010/main" val="2405636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62C0A-56EF-B349-A097-27B4D460D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98769-531F-C6A5-406F-D1C3D2805950}"/>
              </a:ext>
            </a:extLst>
          </p:cNvPr>
          <p:cNvSpPr>
            <a:spLocks noGrp="1"/>
          </p:cNvSpPr>
          <p:nvPr>
            <p:ph type="title"/>
          </p:nvPr>
        </p:nvSpPr>
        <p:spPr>
          <a:xfrm>
            <a:off x="838200" y="365125"/>
            <a:ext cx="10515600" cy="1325563"/>
          </a:xfrm>
        </p:spPr>
        <p:txBody>
          <a:bodyPr anchor="ctr">
            <a:normAutofit/>
          </a:bodyPr>
          <a:lstStyle/>
          <a:p>
            <a:r>
              <a:rPr lang="en-US" sz="4400" dirty="0"/>
              <a:t>DISCUSSION</a:t>
            </a:r>
          </a:p>
        </p:txBody>
      </p:sp>
      <p:pic>
        <p:nvPicPr>
          <p:cNvPr id="3" name="Content Placeholder 2">
            <a:extLst>
              <a:ext uri="{FF2B5EF4-FFF2-40B4-BE49-F238E27FC236}">
                <a16:creationId xmlns:a16="http://schemas.microsoft.com/office/drawing/2014/main" id="{1F45ECC1-C956-CADF-DDFD-F54C6608E401}"/>
              </a:ext>
            </a:extLst>
          </p:cNvPr>
          <p:cNvPicPr>
            <a:picLocks noGrp="1" noChangeAspect="1"/>
          </p:cNvPicPr>
          <p:nvPr>
            <p:ph sz="half" idx="1"/>
          </p:nvPr>
        </p:nvPicPr>
        <p:blipFill>
          <a:blip r:embed="rId3"/>
          <a:stretch>
            <a:fillRect/>
          </a:stretch>
        </p:blipFill>
        <p:spPr>
          <a:xfrm>
            <a:off x="838200" y="1753439"/>
            <a:ext cx="4351338" cy="4351338"/>
          </a:xfrm>
          <a:prstGeom prst="rect">
            <a:avLst/>
          </a:prstGeom>
          <a:noFill/>
        </p:spPr>
      </p:pic>
      <p:sp>
        <p:nvSpPr>
          <p:cNvPr id="4" name="Content Placeholder 3">
            <a:extLst>
              <a:ext uri="{FF2B5EF4-FFF2-40B4-BE49-F238E27FC236}">
                <a16:creationId xmlns:a16="http://schemas.microsoft.com/office/drawing/2014/main" id="{0F67EF50-003F-6BB0-4367-42BB884C77A4}"/>
              </a:ext>
            </a:extLst>
          </p:cNvPr>
          <p:cNvSpPr>
            <a:spLocks noGrp="1"/>
          </p:cNvSpPr>
          <p:nvPr>
            <p:ph sz="half" idx="2"/>
          </p:nvPr>
        </p:nvSpPr>
        <p:spPr>
          <a:xfrm>
            <a:off x="5413074" y="1784770"/>
            <a:ext cx="6215333" cy="4351338"/>
          </a:xfrm>
        </p:spPr>
        <p:txBody>
          <a:bodyPr>
            <a:normAutofit/>
          </a:bodyPr>
          <a:lstStyle/>
          <a:p>
            <a:r>
              <a:rPr lang="en-US" sz="1800" b="1" dirty="0"/>
              <a:t>Amazon Web Services (AWS) </a:t>
            </a:r>
            <a:r>
              <a:rPr lang="en-US" sz="1800" dirty="0"/>
              <a:t>and </a:t>
            </a:r>
            <a:r>
              <a:rPr lang="en-US" sz="1800" b="1" dirty="0"/>
              <a:t>Microsoft Azure </a:t>
            </a:r>
            <a:r>
              <a:rPr lang="en-US" sz="1800" dirty="0"/>
              <a:t>are platform that continue to be popular for the next year.</a:t>
            </a:r>
          </a:p>
          <a:p>
            <a:r>
              <a:rPr lang="en-US" sz="1800" b="1" dirty="0"/>
              <a:t>Node.js </a:t>
            </a:r>
            <a:r>
              <a:rPr lang="en-US" sz="1800" dirty="0"/>
              <a:t>and </a:t>
            </a:r>
            <a:r>
              <a:rPr lang="en-US" sz="1800" b="1" dirty="0"/>
              <a:t>React</a:t>
            </a:r>
            <a:r>
              <a:rPr lang="en-US" sz="1800" dirty="0"/>
              <a:t> are web frame that continue to be popular for the next year.</a:t>
            </a:r>
          </a:p>
          <a:p>
            <a:r>
              <a:rPr lang="en-ID" sz="1800" dirty="0"/>
              <a:t>Respondents were dominated by developers with an age range of </a:t>
            </a:r>
            <a:r>
              <a:rPr lang="en-ID" sz="1800" b="1" dirty="0"/>
              <a:t>25-34 years </a:t>
            </a:r>
            <a:r>
              <a:rPr lang="en-ID" sz="1800" dirty="0"/>
              <a:t>(41.3%) and followed by age range </a:t>
            </a:r>
            <a:r>
              <a:rPr lang="en-ID" sz="1800" b="1" dirty="0"/>
              <a:t>35-44 years</a:t>
            </a:r>
            <a:r>
              <a:rPr lang="en-ID" sz="1800" dirty="0"/>
              <a:t> (27.3%).</a:t>
            </a:r>
          </a:p>
          <a:p>
            <a:r>
              <a:rPr lang="en-ID" sz="1800" dirty="0"/>
              <a:t>Most of the respondents had a formal education as a  </a:t>
            </a:r>
            <a:r>
              <a:rPr lang="en-ID" sz="1800" b="1" dirty="0"/>
              <a:t>Bachelor's degree </a:t>
            </a:r>
            <a:r>
              <a:rPr lang="en-ID" sz="1800" dirty="0"/>
              <a:t>and followed by a formal education as a </a:t>
            </a:r>
            <a:r>
              <a:rPr lang="en-ID" sz="1800" b="1" dirty="0"/>
              <a:t>Master’s degree</a:t>
            </a:r>
            <a:r>
              <a:rPr lang="en-ID" sz="1800" dirty="0"/>
              <a:t>,</a:t>
            </a:r>
            <a:r>
              <a:rPr lang="en-ID" sz="1800" b="1" dirty="0"/>
              <a:t> </a:t>
            </a:r>
            <a:r>
              <a:rPr lang="en-ID" sz="1800" dirty="0"/>
              <a:t>which indicates that this profession requires a good formal educational backbone.</a:t>
            </a:r>
          </a:p>
          <a:p>
            <a:r>
              <a:rPr lang="en-ID" sz="1800" dirty="0"/>
              <a:t>Most of the respondents </a:t>
            </a:r>
            <a:r>
              <a:rPr lang="en-ID" sz="1800" b="1" dirty="0"/>
              <a:t> </a:t>
            </a:r>
            <a:r>
              <a:rPr lang="en-ID" sz="1800" dirty="0"/>
              <a:t>were from the </a:t>
            </a:r>
            <a:r>
              <a:rPr lang="en-ID" sz="1800" b="1" dirty="0"/>
              <a:t>USA </a:t>
            </a:r>
            <a:r>
              <a:rPr lang="en-ID" sz="1800" dirty="0"/>
              <a:t>and</a:t>
            </a:r>
            <a:r>
              <a:rPr lang="en-ID" sz="1800" b="1" dirty="0"/>
              <a:t> Europe</a:t>
            </a:r>
            <a:r>
              <a:rPr lang="en-ID" sz="1800" dirty="0"/>
              <a:t>. This is good information for HR team for the recruitment process related to developer needs.</a:t>
            </a:r>
          </a:p>
          <a:p>
            <a:endParaRPr lang="en-ID" sz="1800" dirty="0"/>
          </a:p>
        </p:txBody>
      </p:sp>
    </p:spTree>
    <p:custDataLst>
      <p:tags r:id="rId1"/>
    </p:custDataLst>
    <p:extLst>
      <p:ext uri="{BB962C8B-B14F-4D97-AF65-F5344CB8AC3E}">
        <p14:creationId xmlns:p14="http://schemas.microsoft.com/office/powerpoint/2010/main" val="857333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05330-0589-A550-601A-037CA416F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A8902-AF46-DDE8-D792-7940E18AF629}"/>
              </a:ext>
            </a:extLst>
          </p:cNvPr>
          <p:cNvSpPr>
            <a:spLocks noGrp="1"/>
          </p:cNvSpPr>
          <p:nvPr>
            <p:ph type="title"/>
          </p:nvPr>
        </p:nvSpPr>
        <p:spPr>
          <a:xfrm>
            <a:off x="838200" y="365125"/>
            <a:ext cx="10515600" cy="1325563"/>
          </a:xfrm>
        </p:spPr>
        <p:txBody>
          <a:bodyPr>
            <a:normAutofit/>
          </a:bodyPr>
          <a:lstStyle/>
          <a:p>
            <a:r>
              <a:rPr lang="en-US" sz="4400" dirty="0"/>
              <a:t>OVERALL FINDINGS &amp; IMPLICATIONS</a:t>
            </a:r>
          </a:p>
        </p:txBody>
      </p:sp>
      <p:sp>
        <p:nvSpPr>
          <p:cNvPr id="9" name="Content Placeholder 2">
            <a:extLst>
              <a:ext uri="{FF2B5EF4-FFF2-40B4-BE49-F238E27FC236}">
                <a16:creationId xmlns:a16="http://schemas.microsoft.com/office/drawing/2014/main" id="{E2DE23E0-D2CC-7814-8E27-136800703CA5}"/>
              </a:ext>
            </a:extLst>
          </p:cNvPr>
          <p:cNvSpPr>
            <a:spLocks noGrp="1"/>
          </p:cNvSpPr>
          <p:nvPr>
            <p:ph sz="half" idx="1"/>
          </p:nvPr>
        </p:nvSpPr>
        <p:spPr>
          <a:xfrm>
            <a:off x="813816" y="1825625"/>
            <a:ext cx="5282184" cy="4351338"/>
          </a:xfrm>
        </p:spPr>
        <p:txBody>
          <a:bodyPr>
            <a:normAutofit/>
          </a:bodyPr>
          <a:lstStyle/>
          <a:p>
            <a:pPr marL="0" indent="0">
              <a:buNone/>
            </a:pPr>
            <a:r>
              <a:rPr lang="en-US" b="1" dirty="0"/>
              <a:t>Findings</a:t>
            </a:r>
          </a:p>
          <a:p>
            <a:pPr marL="0" indent="0">
              <a:buNone/>
            </a:pPr>
            <a:endParaRPr lang="en-US" dirty="0"/>
          </a:p>
          <a:p>
            <a:r>
              <a:rPr lang="en-US" sz="2000" b="1" dirty="0"/>
              <a:t>Amazon </a:t>
            </a:r>
            <a:r>
              <a:rPr lang="en-US" sz="1900" b="1" dirty="0"/>
              <a:t>Web Services (AWS) </a:t>
            </a:r>
            <a:r>
              <a:rPr lang="en-US" sz="1900" dirty="0"/>
              <a:t>and </a:t>
            </a:r>
            <a:r>
              <a:rPr lang="en-US" sz="1900" b="1" dirty="0"/>
              <a:t>Microsoft Azure </a:t>
            </a:r>
            <a:r>
              <a:rPr lang="en-US" sz="1900" dirty="0"/>
              <a:t>are platform that continue to be popular for the next year.</a:t>
            </a:r>
          </a:p>
          <a:p>
            <a:r>
              <a:rPr lang="en-US" sz="1900" b="1" dirty="0"/>
              <a:t>Node.js </a:t>
            </a:r>
            <a:r>
              <a:rPr lang="en-US" sz="1900" dirty="0"/>
              <a:t>and </a:t>
            </a:r>
            <a:r>
              <a:rPr lang="en-US" sz="1900" b="1" dirty="0"/>
              <a:t>React</a:t>
            </a:r>
            <a:r>
              <a:rPr lang="en-US" sz="1900" dirty="0"/>
              <a:t> are web frame that continue to be popular for the next year.</a:t>
            </a:r>
          </a:p>
          <a:p>
            <a:r>
              <a:rPr lang="en-ID" sz="1900" dirty="0"/>
              <a:t>Developers with a </a:t>
            </a:r>
            <a:r>
              <a:rPr lang="en-ID" sz="1900" b="1" dirty="0"/>
              <a:t>Bachelor's degree </a:t>
            </a:r>
            <a:r>
              <a:rPr lang="en-ID" sz="1900" dirty="0"/>
              <a:t>educational background have the largest age group, while developers with a </a:t>
            </a:r>
            <a:r>
              <a:rPr lang="en-ID" sz="1900" b="1" dirty="0"/>
              <a:t>primary school </a:t>
            </a:r>
            <a:r>
              <a:rPr lang="en-ID" sz="1900" dirty="0"/>
              <a:t>educational background consist of the age group under 18 years.</a:t>
            </a:r>
          </a:p>
          <a:p>
            <a:endParaRPr lang="en-US" sz="2000" dirty="0"/>
          </a:p>
          <a:p>
            <a:endParaRPr lang="en-US" sz="2000" dirty="0"/>
          </a:p>
        </p:txBody>
      </p:sp>
      <p:sp>
        <p:nvSpPr>
          <p:cNvPr id="10" name="Content Placeholder 3">
            <a:extLst>
              <a:ext uri="{FF2B5EF4-FFF2-40B4-BE49-F238E27FC236}">
                <a16:creationId xmlns:a16="http://schemas.microsoft.com/office/drawing/2014/main" id="{3EDB1C02-BCD0-E8F4-BCA0-C184D9CC65DC}"/>
              </a:ext>
            </a:extLst>
          </p:cNvPr>
          <p:cNvSpPr>
            <a:spLocks noGrp="1"/>
          </p:cNvSpPr>
          <p:nvPr>
            <p:ph sz="half" idx="2"/>
          </p:nvPr>
        </p:nvSpPr>
        <p:spPr>
          <a:xfrm>
            <a:off x="6327475" y="1825625"/>
            <a:ext cx="5181600" cy="4351338"/>
          </a:xfrm>
        </p:spPr>
        <p:txBody>
          <a:bodyPr>
            <a:normAutofit/>
          </a:bodyPr>
          <a:lstStyle/>
          <a:p>
            <a:pPr marL="0" indent="0">
              <a:buNone/>
            </a:pPr>
            <a:r>
              <a:rPr lang="en-US" b="1" dirty="0"/>
              <a:t>Implications</a:t>
            </a:r>
          </a:p>
          <a:p>
            <a:pPr marL="0" indent="0">
              <a:buNone/>
            </a:pPr>
            <a:endParaRPr lang="en-US" dirty="0"/>
          </a:p>
          <a:p>
            <a:r>
              <a:rPr lang="en-ID" sz="1900" dirty="0"/>
              <a:t>Training for </a:t>
            </a:r>
            <a:r>
              <a:rPr lang="en-ID" sz="1900" b="1" dirty="0"/>
              <a:t>WAS</a:t>
            </a:r>
            <a:r>
              <a:rPr lang="en-ID" sz="1900" dirty="0"/>
              <a:t>, </a:t>
            </a:r>
            <a:r>
              <a:rPr lang="en-ID" sz="1900" b="1" dirty="0"/>
              <a:t>Microsoft Azure</a:t>
            </a:r>
            <a:r>
              <a:rPr lang="en-ID" sz="1900" dirty="0"/>
              <a:t>, </a:t>
            </a:r>
            <a:r>
              <a:rPr lang="en-ID" sz="1900" b="1" dirty="0"/>
              <a:t>Node.js</a:t>
            </a:r>
            <a:r>
              <a:rPr lang="en-ID" sz="1900" dirty="0"/>
              <a:t>, and </a:t>
            </a:r>
            <a:r>
              <a:rPr lang="en-ID" sz="1900" b="1" dirty="0"/>
              <a:t>React</a:t>
            </a:r>
            <a:r>
              <a:rPr lang="en-ID" sz="1900" dirty="0"/>
              <a:t> can be continued and deepened considering their popularity until next year.</a:t>
            </a:r>
          </a:p>
          <a:p>
            <a:r>
              <a:rPr lang="en-ID" sz="1900" dirty="0"/>
              <a:t>Developers with a </a:t>
            </a:r>
            <a:r>
              <a:rPr lang="en-ID" sz="1900" b="1" dirty="0"/>
              <a:t>primary school </a:t>
            </a:r>
            <a:r>
              <a:rPr lang="en-ID" sz="1900" dirty="0"/>
              <a:t>education background and </a:t>
            </a:r>
            <a:r>
              <a:rPr lang="en-ID" sz="1900" b="1" dirty="0"/>
              <a:t>under the age of 18 years</a:t>
            </a:r>
            <a:r>
              <a:rPr lang="en-ID" sz="1900" dirty="0"/>
              <a:t> have great potential to develop very well if they continue to a higher level of education while still pursuing the developer profession.</a:t>
            </a:r>
          </a:p>
          <a:p>
            <a:pPr marL="0" indent="0">
              <a:buNone/>
            </a:pPr>
            <a:endParaRPr lang="en-US" sz="1900" dirty="0"/>
          </a:p>
        </p:txBody>
      </p:sp>
    </p:spTree>
    <p:custDataLst>
      <p:tags r:id="rId1"/>
    </p:custDataLst>
    <p:extLst>
      <p:ext uri="{BB962C8B-B14F-4D97-AF65-F5344CB8AC3E}">
        <p14:creationId xmlns:p14="http://schemas.microsoft.com/office/powerpoint/2010/main" val="38656372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A16F-6AB5-5C0B-5466-65B2A6AE811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5E978FF3-BC93-079A-1687-DD4786B81DF4}"/>
              </a:ext>
            </a:extLst>
          </p:cNvPr>
          <p:cNvSpPr>
            <a:spLocks noGrp="1"/>
          </p:cNvSpPr>
          <p:nvPr>
            <p:ph type="title"/>
          </p:nvPr>
        </p:nvSpPr>
        <p:spPr>
          <a:xfrm>
            <a:off x="838200" y="365125"/>
            <a:ext cx="10515600" cy="1325563"/>
          </a:xfrm>
        </p:spPr>
        <p:txBody>
          <a:bodyPr anchor="ctr">
            <a:normAutofit/>
          </a:bodyPr>
          <a:lstStyle/>
          <a:p>
            <a:r>
              <a:rPr lang="en-US" sz="4400" dirty="0"/>
              <a:t>CONCLUSION</a:t>
            </a:r>
          </a:p>
        </p:txBody>
      </p:sp>
      <p:sp>
        <p:nvSpPr>
          <p:cNvPr id="12" name="Content Placeholder 3">
            <a:extLst>
              <a:ext uri="{FF2B5EF4-FFF2-40B4-BE49-F238E27FC236}">
                <a16:creationId xmlns:a16="http://schemas.microsoft.com/office/drawing/2014/main" id="{2E75918E-509D-16F8-F478-FA41759FEFE9}"/>
              </a:ext>
            </a:extLst>
          </p:cNvPr>
          <p:cNvSpPr txBox="1">
            <a:spLocks/>
          </p:cNvSpPr>
          <p:nvPr/>
        </p:nvSpPr>
        <p:spPr>
          <a:xfrm>
            <a:off x="4544291" y="1825625"/>
            <a:ext cx="680950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ID" sz="1900" dirty="0"/>
              <a:t>Most technologies (languages, databases, platforms, web frameworks, tools, etc.) remain highly relevant for development in the coming year.</a:t>
            </a:r>
          </a:p>
          <a:p>
            <a:r>
              <a:rPr lang="en-ID" sz="1900" dirty="0"/>
              <a:t>Data analysis shows that respondents were mostly aged </a:t>
            </a:r>
            <a:r>
              <a:rPr lang="en-ID" sz="1900" b="1" dirty="0"/>
              <a:t>25-34 years old</a:t>
            </a:r>
            <a:r>
              <a:rPr lang="en-ID" sz="1900" dirty="0"/>
              <a:t>, with a formal education </a:t>
            </a:r>
            <a:r>
              <a:rPr lang="en-ID" sz="1900" b="1" dirty="0"/>
              <a:t>bachelor's degree</a:t>
            </a:r>
            <a:r>
              <a:rPr lang="en-ID" sz="1900" dirty="0"/>
              <a:t>, from the </a:t>
            </a:r>
            <a:r>
              <a:rPr lang="en-ID" sz="1900" b="1" dirty="0"/>
              <a:t>USA, </a:t>
            </a:r>
            <a:r>
              <a:rPr lang="en-ID" sz="1900" dirty="0"/>
              <a:t>and are </a:t>
            </a:r>
            <a:r>
              <a:rPr lang="en-ID" sz="1900" b="1" dirty="0"/>
              <a:t>full-stack developers</a:t>
            </a:r>
            <a:r>
              <a:rPr lang="en-ID" sz="1900" dirty="0"/>
              <a:t>.</a:t>
            </a:r>
          </a:p>
          <a:p>
            <a:r>
              <a:rPr lang="en-ID" sz="1900" dirty="0"/>
              <a:t>Developer are looking for </a:t>
            </a:r>
            <a:r>
              <a:rPr lang="en-ID" sz="1900" b="1" dirty="0"/>
              <a:t>3 main factors </a:t>
            </a:r>
            <a:r>
              <a:rPr lang="en-ID" sz="1900" dirty="0"/>
              <a:t>when choosing technologies: (1) faster and good performance, needed to support complex ecosystems, (2) provide a comprehensive suite of services for AI, compute, storage, databases, and networking, (3) has a free edition to reduce cost.</a:t>
            </a:r>
          </a:p>
        </p:txBody>
      </p:sp>
      <p:pic>
        <p:nvPicPr>
          <p:cNvPr id="13" name="Content Placeholder 5">
            <a:extLst>
              <a:ext uri="{FF2B5EF4-FFF2-40B4-BE49-F238E27FC236}">
                <a16:creationId xmlns:a16="http://schemas.microsoft.com/office/drawing/2014/main" id="{CD985AE9-0D12-3398-B9B7-4395CABF1707}"/>
              </a:ext>
            </a:extLst>
          </p:cNvPr>
          <p:cNvPicPr>
            <a:picLocks noGrp="1" noChangeAspect="1"/>
          </p:cNvPicPr>
          <p:nvPr>
            <p:ph sz="half" idx="1"/>
          </p:nvPr>
        </p:nvPicPr>
        <p:blipFill>
          <a:blip r:embed="rId3"/>
          <a:stretch>
            <a:fillRect/>
          </a:stretch>
        </p:blipFill>
        <p:spPr>
          <a:xfrm>
            <a:off x="1125967" y="2113896"/>
            <a:ext cx="3054361" cy="3054361"/>
          </a:xfrm>
          <a:prstGeom prst="rect">
            <a:avLst/>
          </a:prstGeom>
        </p:spPr>
      </p:pic>
    </p:spTree>
    <p:custDataLst>
      <p:tags r:id="rId1"/>
    </p:custDataLst>
    <p:extLst>
      <p:ext uri="{BB962C8B-B14F-4D97-AF65-F5344CB8AC3E}">
        <p14:creationId xmlns:p14="http://schemas.microsoft.com/office/powerpoint/2010/main" val="840378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1598F-DBE3-7B78-D1F9-0BA7F7DC75B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4A3B939-6057-23B6-25B3-E33A2D205C2A}"/>
              </a:ext>
            </a:extLst>
          </p:cNvPr>
          <p:cNvSpPr>
            <a:spLocks noGrp="1"/>
          </p:cNvSpPr>
          <p:nvPr>
            <p:ph type="title"/>
          </p:nvPr>
        </p:nvSpPr>
        <p:spPr>
          <a:xfrm>
            <a:off x="838200" y="365125"/>
            <a:ext cx="10515600" cy="1325563"/>
          </a:xfrm>
        </p:spPr>
        <p:txBody>
          <a:bodyPr anchor="ctr">
            <a:normAutofit/>
          </a:bodyPr>
          <a:lstStyle/>
          <a:p>
            <a:r>
              <a:rPr lang="en-US" sz="4400" dirty="0"/>
              <a:t>APPENDIX</a:t>
            </a:r>
          </a:p>
        </p:txBody>
      </p:sp>
      <p:pic>
        <p:nvPicPr>
          <p:cNvPr id="11" name="Content Placeholder 3">
            <a:extLst>
              <a:ext uri="{FF2B5EF4-FFF2-40B4-BE49-F238E27FC236}">
                <a16:creationId xmlns:a16="http://schemas.microsoft.com/office/drawing/2014/main" id="{E8E550E5-7A15-A106-D083-8C1433A790A1}"/>
              </a:ext>
            </a:extLst>
          </p:cNvPr>
          <p:cNvPicPr>
            <a:picLocks noGrp="1" noChangeAspect="1"/>
          </p:cNvPicPr>
          <p:nvPr>
            <p:ph sz="half" idx="1"/>
          </p:nvPr>
        </p:nvPicPr>
        <p:blipFill>
          <a:blip r:embed="rId3"/>
          <a:stretch>
            <a:fillRect/>
          </a:stretch>
        </p:blipFill>
        <p:spPr>
          <a:xfrm>
            <a:off x="1055857" y="1849823"/>
            <a:ext cx="3194581" cy="3194581"/>
          </a:xfrm>
          <a:prstGeom prst="rect">
            <a:avLst/>
          </a:prstGeom>
        </p:spPr>
      </p:pic>
      <p:pic>
        <p:nvPicPr>
          <p:cNvPr id="4" name="Picture 3" descr="A pie chart with different colored circles&#10;&#10;AI-generated content may be incorrect.">
            <a:extLst>
              <a:ext uri="{FF2B5EF4-FFF2-40B4-BE49-F238E27FC236}">
                <a16:creationId xmlns:a16="http://schemas.microsoft.com/office/drawing/2014/main" id="{87116AB4-28F6-CD95-5202-1C64021984C3}"/>
              </a:ext>
            </a:extLst>
          </p:cNvPr>
          <p:cNvPicPr>
            <a:picLocks noChangeAspect="1"/>
          </p:cNvPicPr>
          <p:nvPr/>
        </p:nvPicPr>
        <p:blipFill>
          <a:blip r:embed="rId4"/>
          <a:stretch>
            <a:fillRect/>
          </a:stretch>
        </p:blipFill>
        <p:spPr>
          <a:xfrm>
            <a:off x="5125438" y="1690688"/>
            <a:ext cx="4935376" cy="4802187"/>
          </a:xfrm>
          <a:prstGeom prst="rect">
            <a:avLst/>
          </a:prstGeom>
        </p:spPr>
      </p:pic>
    </p:spTree>
    <p:custDataLst>
      <p:tags r:id="rId1"/>
    </p:custDataLst>
    <p:extLst>
      <p:ext uri="{BB962C8B-B14F-4D97-AF65-F5344CB8AC3E}">
        <p14:creationId xmlns:p14="http://schemas.microsoft.com/office/powerpoint/2010/main" val="18601586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C4E31-32FC-4A23-CEF9-98F0BB9F13E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334EF5D-2E2A-7FE5-06C6-01ACAB1F420F}"/>
              </a:ext>
            </a:extLst>
          </p:cNvPr>
          <p:cNvSpPr>
            <a:spLocks noGrp="1"/>
          </p:cNvSpPr>
          <p:nvPr>
            <p:ph type="title"/>
          </p:nvPr>
        </p:nvSpPr>
        <p:spPr>
          <a:xfrm>
            <a:off x="538248" y="383051"/>
            <a:ext cx="5929053" cy="1325563"/>
          </a:xfrm>
        </p:spPr>
        <p:txBody>
          <a:bodyPr anchor="ctr">
            <a:normAutofit/>
          </a:bodyPr>
          <a:lstStyle/>
          <a:p>
            <a:r>
              <a:rPr lang="en-US" sz="4400" dirty="0"/>
              <a:t> JOB POSTINGS</a:t>
            </a:r>
          </a:p>
        </p:txBody>
      </p:sp>
      <p:graphicFrame>
        <p:nvGraphicFramePr>
          <p:cNvPr id="2" name="Chart 1">
            <a:extLst>
              <a:ext uri="{FF2B5EF4-FFF2-40B4-BE49-F238E27FC236}">
                <a16:creationId xmlns:a16="http://schemas.microsoft.com/office/drawing/2014/main" id="{614D8FC4-994B-25A3-E317-B52ED40F29A8}"/>
              </a:ext>
            </a:extLst>
          </p:cNvPr>
          <p:cNvGraphicFramePr>
            <a:graphicFrameLocks/>
          </p:cNvGraphicFramePr>
          <p:nvPr>
            <p:extLst>
              <p:ext uri="{D42A27DB-BD31-4B8C-83A1-F6EECF244321}">
                <p14:modId xmlns:p14="http://schemas.microsoft.com/office/powerpoint/2010/main" val="3866985005"/>
              </p:ext>
            </p:extLst>
          </p:nvPr>
        </p:nvGraphicFramePr>
        <p:xfrm>
          <a:off x="1999764" y="1509249"/>
          <a:ext cx="8192472" cy="4965700"/>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1"/>
    </p:custDataLst>
    <p:extLst>
      <p:ext uri="{BB962C8B-B14F-4D97-AF65-F5344CB8AC3E}">
        <p14:creationId xmlns:p14="http://schemas.microsoft.com/office/powerpoint/2010/main" val="19353738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B558-7141-B0CE-D399-712C1073BFD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2CF5900-71B3-70B0-7CF1-4A1C535AD04B}"/>
              </a:ext>
            </a:extLst>
          </p:cNvPr>
          <p:cNvSpPr>
            <a:spLocks noGrp="1"/>
          </p:cNvSpPr>
          <p:nvPr>
            <p:ph type="title"/>
          </p:nvPr>
        </p:nvSpPr>
        <p:spPr>
          <a:xfrm>
            <a:off x="538248" y="383051"/>
            <a:ext cx="9791085" cy="1325563"/>
          </a:xfrm>
        </p:spPr>
        <p:txBody>
          <a:bodyPr anchor="ctr">
            <a:normAutofit/>
          </a:bodyPr>
          <a:lstStyle/>
          <a:p>
            <a:r>
              <a:rPr lang="en-US" sz="4400" dirty="0"/>
              <a:t>POPULAR LANGUAGES</a:t>
            </a:r>
          </a:p>
        </p:txBody>
      </p:sp>
      <p:graphicFrame>
        <p:nvGraphicFramePr>
          <p:cNvPr id="2" name="Chart 1">
            <a:extLst>
              <a:ext uri="{FF2B5EF4-FFF2-40B4-BE49-F238E27FC236}">
                <a16:creationId xmlns:a16="http://schemas.microsoft.com/office/drawing/2014/main" id="{AC43DC8E-6A95-0D38-D0FF-59298BD2080B}"/>
              </a:ext>
            </a:extLst>
          </p:cNvPr>
          <p:cNvGraphicFramePr>
            <a:graphicFrameLocks/>
          </p:cNvGraphicFramePr>
          <p:nvPr>
            <p:extLst>
              <p:ext uri="{D42A27DB-BD31-4B8C-83A1-F6EECF244321}">
                <p14:modId xmlns:p14="http://schemas.microsoft.com/office/powerpoint/2010/main" val="4076936856"/>
              </p:ext>
            </p:extLst>
          </p:nvPr>
        </p:nvGraphicFramePr>
        <p:xfrm>
          <a:off x="1920718" y="1708614"/>
          <a:ext cx="8350563" cy="4218732"/>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1"/>
    </p:custDataLst>
    <p:extLst>
      <p:ext uri="{BB962C8B-B14F-4D97-AF65-F5344CB8AC3E}">
        <p14:creationId xmlns:p14="http://schemas.microsoft.com/office/powerpoint/2010/main" val="19459025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8"/>
  <p:tag name="ARTICULATE_DESIGN_ID_SLIDE_TEMPLATE_SKILL_NETWORK" val="762xjmeN"/>
  <p:tag name="ARTICULATE_DESIGN_ID_IBM DEVELOPER 2018 WHITE BACKGROUND" val="AcyDFp8V"/>
  <p:tag name="ARTICULATE_SLIDE_THUMBNAIL_REFRESH" val="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BM Skills Network PPT Template 01.2023.pptx" id="{565886F7-76CC-4370-877F-2511E1EB1B28}" vid="{AD061E48-3596-4052-9172-46F1919207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9" ma:contentTypeDescription="Create a new document." ma:contentTypeScope="" ma:versionID="d7279d4efbac013e02c1e816bc7f7c13">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0a3fd1dbe83fc08387abb87098562ef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AWB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fc8dc1-ab14-4a6b-8a4a-9f7f0b948a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AWBlink" ma:index="25" nillable="true" ma:displayName="AWB link" ma:description="Author Workbench link" ma:format="Dropdown" ma:internalName="AWBlink">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2edd55d-11a0-43df-8094-42adcb6055ca}" ma:internalName="TaxCatchAll" ma:showField="CatchAllData" ma:web="f80a141d-92ca-4d3d-9308-f7e7b1d44c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55be751-a274-42e8-93fb-f39d3b9bccc8">
      <Terms xmlns="http://schemas.microsoft.com/office/infopath/2007/PartnerControls"/>
    </lcf76f155ced4ddcb4097134ff3c332f>
    <TaxCatchAll xmlns="f80a141d-92ca-4d3d-9308-f7e7b1d44ce8" xsi:nil="true"/>
    <AWBlink xmlns="155be751-a274-42e8-93fb-f39d3b9bccc8" xsi:nil="true"/>
  </documentManagement>
</p:properties>
</file>

<file path=customXml/itemProps1.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2.xml><?xml version="1.0" encoding="utf-8"?>
<ds:datastoreItem xmlns:ds="http://schemas.openxmlformats.org/officeDocument/2006/customXml" ds:itemID="{BEAB06F8-DBB4-44C7-AF84-8B098C8B03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be751-a274-42e8-93fb-f39d3b9bccc8"/>
    <ds:schemaRef ds:uri="f80a141d-92ca-4d3d-9308-f7e7b1d44c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4DA07C5-A406-4A0D-B3E6-3856C94AC7F3}">
  <ds:schemaRefs>
    <ds:schemaRef ds:uri="155be751-a274-42e8-93fb-f39d3b9bccc8"/>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f80a141d-92ca-4d3d-9308-f7e7b1d44ce8"/>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IBM PPT Temp Jan 2023</Template>
  <TotalTime>410</TotalTime>
  <Words>1012</Words>
  <Application>Microsoft Office PowerPoint</Application>
  <PresentationFormat>Widescreen</PresentationFormat>
  <Paragraphs>108</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Calibri</vt:lpstr>
      <vt:lpstr>DIN Pro Regular</vt:lpstr>
      <vt:lpstr>Helv</vt:lpstr>
      <vt:lpstr>IBM Plex Mono</vt:lpstr>
      <vt:lpstr>IBM Plex Sans</vt:lpstr>
      <vt:lpstr>IBM Plex Sans SemiBold</vt:lpstr>
      <vt:lpstr>Wingdings</vt:lpstr>
      <vt:lpstr>SLIDE_TEMPLATE_skill_network</vt:lpstr>
      <vt:lpstr>Sneak Peek into Technology Trends  among Developer</vt:lpstr>
      <vt:lpstr>PowerPoint Presentation</vt:lpstr>
      <vt:lpstr>EXECUTIVE SUMMARY</vt:lpstr>
      <vt:lpstr>INTRODUCTION</vt:lpstr>
      <vt:lpstr>METHODOLOGY</vt:lpstr>
      <vt:lpstr>Result and Discussion</vt:lpstr>
      <vt:lpstr>PROGRAMMING LANGUAGE TRENDS</vt:lpstr>
      <vt:lpstr>PROGRAMMING LANGUAGE TRENDS</vt:lpstr>
      <vt:lpstr>DATABASE TRENDS</vt:lpstr>
      <vt:lpstr>DATABASE TRENDS</vt:lpstr>
      <vt:lpstr>DASHBOARD</vt:lpstr>
      <vt:lpstr>DASHBOARD TAB 1</vt:lpstr>
      <vt:lpstr>DASHBOARD TAB 2</vt:lpstr>
      <vt:lpstr>DASHBOARD TAB 3</vt:lpstr>
      <vt:lpstr>DISCUSSION</vt:lpstr>
      <vt:lpstr>OVERALL FINDINGS &amp; IMPLICATIONS</vt:lpstr>
      <vt:lpstr>CONCLUSION</vt:lpstr>
      <vt:lpstr>APPENDIX</vt:lpstr>
      <vt:lpstr> JOB POSTINGS</vt:lpstr>
      <vt:lpstr>POPULAR LANGUAGES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Tori Sleeper</dc:creator>
  <cp:lastModifiedBy>rooshikesh bhatt</cp:lastModifiedBy>
  <cp:revision>130</cp:revision>
  <dcterms:created xsi:type="dcterms:W3CDTF">2024-10-30T05:40:03Z</dcterms:created>
  <dcterms:modified xsi:type="dcterms:W3CDTF">2025-12-28T04:50:56Z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MediaServiceImageTags">
    <vt:lpwstr/>
  </property>
  <property fmtid="{D5CDD505-2E9C-101B-9397-08002B2CF9AE}" pid="4" name="ArticulateGUID">
    <vt:lpwstr>07C438A6-8092-445C-AC0D-AE1422093206</vt:lpwstr>
  </property>
  <property fmtid="{D5CDD505-2E9C-101B-9397-08002B2CF9AE}" pid="5" name="ArticulatePath">
    <vt:lpwstr>https://skilluptech.sharepoint.com/sites/Coursera/Shared Documents/General/PPT template/IBM Skills Network PPT Template 01.2023</vt:lpwstr>
  </property>
</Properties>
</file>